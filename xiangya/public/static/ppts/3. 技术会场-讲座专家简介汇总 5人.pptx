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318711"/>
            <a:ext cx="12192016" cy="15666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l"/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120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22" name="矩形"/>
          <p:cNvSpPr/>
          <p:nvPr/>
        </p:nvSpPr>
        <p:spPr>
          <a:xfrm>
            <a:off x="12043308" y="332655"/>
            <a:ext cx="148709" cy="485314"/>
          </a:xfrm>
          <a:prstGeom prst="rect">
            <a:avLst/>
          </a:prstGeom>
          <a:solidFill>
            <a:srgbClr val="0070C0"/>
          </a:solidFill>
          <a:ln w="25400" cap="flat" cmpd="sng">
            <a:noFill/>
            <a:prstDash val="solid"/>
            <a:round/>
          </a:ln>
        </p:spPr>
      </p:sp>
      <p:pic>
        <p:nvPicPr>
          <p:cNvPr id="23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800523" y="218348"/>
            <a:ext cx="1130955" cy="83659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pic>
        <p:nvPicPr>
          <p:cNvPr id="24" name="图片" descr="C:\Users\Administrator\Desktop\njmu photo_副本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840416" y="241924"/>
            <a:ext cx="768511" cy="7805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350238" y="422623"/>
            <a:ext cx="8114340" cy="6300906"/>
          </a:xfrm>
        </p:spPr>
        <p:txBody>
          <a:bodyPr>
            <a:normAutofit fontScale="92500" lnSpcReduction="20000"/>
          </a:bodyPr>
          <a:lstStyle/>
          <a:p>
            <a:pPr indent="304800" algn="just">
              <a:lnSpc>
                <a:spcPct val="120000"/>
              </a:lnSpc>
            </a:pPr>
            <a:r>
              <a:rPr lang="en-US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中山大学中山医学院</a:t>
            </a:r>
            <a:r>
              <a:rPr lang="en-US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附属第一医院病理科副主任技师。</a:t>
            </a:r>
            <a:endParaRPr lang="en-US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20000"/>
              </a:lnSpc>
            </a:pPr>
            <a:r>
              <a:rPr lang="en-US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中华医学会病理学分会委员，技术学组副组长。</a:t>
            </a:r>
            <a:endParaRPr lang="en-US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304800" algn="just">
              <a:lnSpc>
                <a:spcPct val="120000"/>
              </a:lnSpc>
            </a:pPr>
            <a:r>
              <a:rPr lang="en-US" altLang="zh-CN" sz="2100" kern="100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中国医学装备协会病理装备分会常委</a:t>
            </a:r>
            <a:endParaRPr lang="en-US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     </a:t>
            </a: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中国医疗器械行业协会病理专业委员会指导专家</a:t>
            </a:r>
            <a:endParaRPr lang="zh-CN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     </a:t>
            </a: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中国非公立医疗机构协会病理学专委会常委，特殊染色专业组组长。</a:t>
            </a:r>
            <a:r>
              <a:rPr lang="en-US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en-US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     </a:t>
            </a: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吴阶平医学基金会病理学部委员</a:t>
            </a:r>
            <a:endParaRPr lang="en-US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     </a:t>
            </a: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广东省医学会病理学分会常委、技术学组组长</a:t>
            </a:r>
            <a:endParaRPr lang="zh-CN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609600" algn="just">
              <a:lnSpc>
                <a:spcPct val="120000"/>
              </a:lnSpc>
            </a:pP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广东省医疗行业协会病理分会副主任委员</a:t>
            </a:r>
            <a:endParaRPr lang="zh-CN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609600" algn="just">
              <a:lnSpc>
                <a:spcPct val="120000"/>
              </a:lnSpc>
            </a:pP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广东省病理专业质量控制中心专家委员会委员</a:t>
            </a:r>
            <a:endParaRPr lang="zh-CN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609600" algn="just">
              <a:lnSpc>
                <a:spcPct val="120000"/>
              </a:lnSpc>
            </a:pP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广东省粤港澳合作促进会医药卫生大健康委员会副秘书长</a:t>
            </a:r>
            <a:endParaRPr lang="zh-CN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609600" algn="just">
              <a:lnSpc>
                <a:spcPct val="120000"/>
              </a:lnSpc>
            </a:pP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粤港澳病理联盟常委、秘书</a:t>
            </a:r>
            <a:endParaRPr lang="en-US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609600" algn="just">
              <a:lnSpc>
                <a:spcPct val="120000"/>
              </a:lnSpc>
            </a:pP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《临床与实验病理学杂志》编委</a:t>
            </a:r>
            <a:endParaRPr lang="zh-CN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609600" algn="just">
              <a:lnSpc>
                <a:spcPct val="120000"/>
              </a:lnSpc>
            </a:pP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《诊断病理学杂志》编委</a:t>
            </a:r>
            <a:endParaRPr lang="zh-CN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609600" algn="just">
              <a:lnSpc>
                <a:spcPct val="120000"/>
              </a:lnSpc>
            </a:pPr>
            <a:r>
              <a:rPr lang="zh-CN" altLang="zh-CN" sz="21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《中华病理学杂志》审稿专家</a:t>
            </a:r>
            <a:endParaRPr lang="en-US" altLang="zh-CN" sz="21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609600" algn="just">
              <a:lnSpc>
                <a:spcPct val="120000"/>
              </a:lnSpc>
            </a:pPr>
            <a:r>
              <a:rPr lang="zh-CN" altLang="zh-CN" sz="2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《临床病理学技术》主编</a:t>
            </a:r>
            <a:r>
              <a:rPr lang="zh-CN" altLang="zh-CN" sz="2100" kern="100" dirty="0">
                <a:effectLst/>
                <a:ea typeface="Times New Roman" panose="02020603050405020304" pitchFamily="18" charset="0"/>
              </a:rPr>
              <a:t> </a:t>
            </a:r>
            <a:endParaRPr lang="zh-CN" altLang="en-US" sz="2100" dirty="0"/>
          </a:p>
        </p:txBody>
      </p:sp>
      <p:pic>
        <p:nvPicPr>
          <p:cNvPr id="4" name="图片 3" descr="梁英杰照片"/>
          <p:cNvPicPr/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36042" y="1444599"/>
            <a:ext cx="2260516" cy="2413418"/>
          </a:xfrm>
          <a:prstGeom prst="rect">
            <a:avLst/>
          </a:prstGeom>
          <a:ln>
            <a:noFill/>
          </a:ln>
        </p:spPr>
      </p:pic>
      <p:sp>
        <p:nvSpPr>
          <p:cNvPr id="5" name="副标题 2"/>
          <p:cNvSpPr txBox="1"/>
          <p:nvPr/>
        </p:nvSpPr>
        <p:spPr>
          <a:xfrm>
            <a:off x="991240" y="4210834"/>
            <a:ext cx="2074690" cy="586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梁英杰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4" descr="微信图片_20113.jpg"/>
          <p:cNvPicPr>
            <a:picLocks noChangeAspect="1"/>
          </p:cNvPicPr>
          <p:nvPr/>
        </p:nvPicPr>
        <p:blipFill>
          <a:blip r:embed="rId1">
            <a:lum bright="10000" contrast="-20000"/>
          </a:blip>
          <a:srcRect/>
          <a:stretch>
            <a:fillRect/>
          </a:stretch>
        </p:blipFill>
        <p:spPr bwMode="auto">
          <a:xfrm>
            <a:off x="0" y="6364817"/>
            <a:ext cx="12192000" cy="493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文本框 1"/>
          <p:cNvSpPr txBox="1">
            <a:spLocks noChangeArrowheads="1"/>
          </p:cNvSpPr>
          <p:nvPr/>
        </p:nvSpPr>
        <p:spPr bwMode="auto">
          <a:xfrm>
            <a:off x="1295400" y="2948517"/>
            <a:ext cx="7924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b="0">
                <a:latin typeface="Calibri" panose="020F0502020204030204" charset="0"/>
              </a:rPr>
              <a:t>照片</a:t>
            </a:r>
            <a:endParaRPr lang="zh-CN" altLang="en-US" sz="2400" b="0">
              <a:latin typeface="Calibri" panose="020F0502020204030204" charset="0"/>
            </a:endParaRPr>
          </a:p>
        </p:txBody>
      </p:sp>
      <p:sp>
        <p:nvSpPr>
          <p:cNvPr id="4099" name="文本框 2"/>
          <p:cNvSpPr txBox="1">
            <a:spLocks noChangeArrowheads="1"/>
          </p:cNvSpPr>
          <p:nvPr/>
        </p:nvSpPr>
        <p:spPr bwMode="auto">
          <a:xfrm>
            <a:off x="5440469" y="86361"/>
            <a:ext cx="4895849" cy="501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665">
                <a:ea typeface="楷体" panose="02010609060101010101" pitchFamily="49" charset="-122"/>
              </a:rPr>
              <a:t>个人简介</a:t>
            </a:r>
            <a:endParaRPr lang="zh-CN" altLang="en-US" sz="2665">
              <a:ea typeface="楷体" panose="02010609060101010101" pitchFamily="49" charset="-122"/>
            </a:endParaRP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215006" y="682414"/>
            <a:ext cx="7871883" cy="5146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135">
                <a:latin typeface="宋体" panose="02010600030101010101" pitchFamily="2" charset="-122"/>
                <a:ea typeface="楷体" panose="02010609060101010101" pitchFamily="49" charset="-122"/>
              </a:rPr>
              <a:t>潘美华  副主任技师  安徽医科大学第一附属医院</a:t>
            </a:r>
            <a:endParaRPr lang="zh-CN" altLang="en-US" sz="2135">
              <a:latin typeface="宋体" panose="02010600030101010101" pitchFamily="2" charset="-122"/>
              <a:ea typeface="楷体" panose="02010609060101010101" pitchFamily="49" charset="-122"/>
            </a:endParaRPr>
          </a:p>
          <a:p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中华医学会病理学分会第十三届委员会委员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中华医学会病理学分会第十一届、十二届、十三届委员会病理技术学组委员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中国病理行业标准化委员会评审专家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国家卫生和计划生育委员会病理质控评价中心常规技术组委员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中国医师协会医学技师专业委员会第一届委员会常委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中国医学装备协会病理装备技术专业委员会第一、第二届常委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400">
                <a:ea typeface="楷体" panose="02010609060101010101" pitchFamily="49" charset="-122"/>
              </a:rPr>
              <a:t>中国医学装备人工智能联盟病理委员会第一届常委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400">
                <a:latin typeface="Arial" panose="020B0604020202020204" pitchFamily="34" charset="0"/>
                <a:ea typeface="楷体" panose="02010609060101010101" pitchFamily="49" charset="-122"/>
              </a:rPr>
              <a:t>中国非公立医疗机构协会病理学专业委员会第一届、</a:t>
            </a:r>
            <a:r>
              <a:rPr lang="zh-CN" altLang="en-US" sz="2400">
                <a:ea typeface="楷体" panose="02010609060101010101" pitchFamily="49" charset="-122"/>
              </a:rPr>
              <a:t>第二届</a:t>
            </a:r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委员会常委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中华医学会安徽分会病理学分会第九、第十、第十一届委员会常务委员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r>
              <a:rPr lang="zh-CN" altLang="en-US" sz="2135">
                <a:latin typeface="Arial" panose="020B0604020202020204" pitchFamily="34" charset="0"/>
                <a:ea typeface="楷体" panose="02010609060101010101" pitchFamily="49" charset="-122"/>
              </a:rPr>
              <a:t>中华医学会安徽分会病理学分会第一届、第二届委员会技术学组组长</a:t>
            </a:r>
            <a:endParaRPr lang="zh-CN" altLang="en-US" sz="2135"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pic>
        <p:nvPicPr>
          <p:cNvPr id="4101" name="Picture 6" descr="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962" y="1575223"/>
            <a:ext cx="2400300" cy="3361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3742849" name="图片 10737428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0" y="-12700"/>
            <a:ext cx="12217400" cy="688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858000" y="619760"/>
            <a:ext cx="5080000" cy="359410"/>
          </a:xfrm>
          <a:prstGeom prst="rect">
            <a:avLst/>
          </a:prstGeom>
        </p:spPr>
        <p:txBody>
          <a:bodyPr>
            <a:spAutoFit/>
          </a:bodyPr>
          <a:p>
            <a:pPr marL="0" indent="0" defTabSz="266700">
              <a:lnSpc>
                <a:spcPts val="209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00"/>
                </a:solidFill>
                <a:latin typeface="BCTQQM + ComicSansMS-Bold"/>
                <a:ea typeface="Times New Roman" panose="02020603050405020304"/>
              </a:rPr>
              <a:t>Tianjin Medical University</a:t>
            </a:r>
            <a:endParaRPr lang="en-US" altLang="zh-CN" sz="1600">
              <a:solidFill>
                <a:srgbClr val="FFFF00"/>
              </a:solidFill>
              <a:latin typeface="BCTQQM + ComicSansMS-Bold"/>
              <a:ea typeface="Times New Roman" panose="020206030504050203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7480" y="1210945"/>
            <a:ext cx="9168765" cy="4873625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赵秀兰，研究员、主任技师、硕士生导师</a:t>
            </a:r>
            <a:endParaRPr lang="zh-CN" altLang="en-US" sz="20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天津医科大学病理技术室主任、中国研究型医院学会超微与分子病理学专委会委员、分子技术学组副组长、中国医学装备协会病理分会常委、天津市整合医学学会病理专委会副主委、天津市医学会病理分会副主委、卫生部病理技术命题专家、中国病理技术特殊贡献奖、天津市病理技术学组组长、获天津市五一劳动奖章、天津医科大学优秀教师、曾任中华病理学分会技术学组副组长。</a:t>
            </a:r>
            <a:endParaRPr lang="zh-CN" altLang="en-US"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lnSpc>
                <a:spcPts val="2195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主持国自然基金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2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项、天津市科委重点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1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项、面上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2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项、天津市教委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1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;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参与国自然重点项目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3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项等多项课题；</a:t>
            </a:r>
            <a:endParaRPr lang="zh-CN" altLang="en-US"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lnSpc>
                <a:spcPts val="2195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lnSpc>
                <a:spcPts val="2195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获科技奖和自然奖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10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项，其中天津市科技进步二等奖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1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项（第一）、三等奖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1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项（第一）、天津市科技进步一等奖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2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项（第二）；发表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SCI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论文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60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余篇。</a:t>
            </a:r>
            <a:endParaRPr lang="en-US" altLang="zh-CN" sz="1900">
              <a:solidFill>
                <a:srgbClr val="000000"/>
              </a:solidFill>
              <a:latin typeface="楷体" panose="02010609060101010101" pitchFamily="49" charset="-122"/>
              <a:ea typeface="Times New Roman" panose="02020603050405020304"/>
            </a:endParaRPr>
          </a:p>
          <a:p>
            <a:pPr marL="0" indent="0" defTabSz="266700">
              <a:lnSpc>
                <a:spcPts val="2195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900">
              <a:solidFill>
                <a:srgbClr val="000000"/>
              </a:solidFill>
              <a:latin typeface="楷体" panose="02010609060101010101" pitchFamily="49" charset="-122"/>
              <a:ea typeface="Times New Roman" panose="02020603050405020304"/>
            </a:endParaRPr>
          </a:p>
          <a:p>
            <a:pPr marL="0" indent="0" defTabSz="266700">
              <a:lnSpc>
                <a:spcPts val="2195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B33E7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  <a:r>
              <a:rPr lang="zh-CN" altLang="en-US" sz="1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独立指导硕士生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7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名，参与导师组指导博士生</a:t>
            </a:r>
            <a:r>
              <a:rPr lang="en-US" altLang="zh-CN" sz="1900">
                <a:solidFill>
                  <a:srgbClr val="000000"/>
                </a:solidFill>
                <a:latin typeface="楷体" panose="02010609060101010101" pitchFamily="49" charset="-122"/>
                <a:ea typeface="Times New Roman" panose="02020603050405020304"/>
              </a:rPr>
              <a:t>20</a:t>
            </a:r>
            <a:r>
              <a:rPr lang="zh-CN" altLang="en-US" sz="19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名、硕士生多名。</a:t>
            </a:r>
            <a:endParaRPr lang="zh-CN" altLang="en-US" sz="19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96335" y="329565"/>
            <a:ext cx="7896860" cy="132588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许三鹏  病理学博士</a:t>
            </a:r>
            <a:r>
              <a:rPr lang="en-US" altLang="zh-CN" sz="2800" b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,</a:t>
            </a:r>
            <a:r>
              <a:rPr lang="zh-CN" altLang="zh-CN" sz="2800" b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副主任技师</a:t>
            </a:r>
            <a:endParaRPr lang="zh-CN" altLang="zh-CN" sz="2800" b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96335" y="1337310"/>
            <a:ext cx="8153400" cy="434594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chemeClr val="tx1"/>
                </a:solidFill>
                <a:latin typeface="+mn-ea"/>
              </a:rPr>
              <a:t>华中科技大学附属同济医院病理研究所技师长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                                                </a:t>
            </a:r>
            <a:endParaRPr lang="zh-CN" altLang="zh-CN" sz="2000" b="1" dirty="0">
              <a:solidFill>
                <a:schemeClr val="tx1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中华医学会病理学分会病理技术组第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sym typeface="+mn-ea"/>
              </a:rPr>
              <a:t>11&amp;12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届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委员</a:t>
            </a:r>
            <a:endParaRPr lang="zh-CN" altLang="zh-CN" sz="2000" b="1" dirty="0">
              <a:solidFill>
                <a:schemeClr val="tx1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中华医学会病理学分会病理技术组第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sym typeface="+mn-ea"/>
              </a:rPr>
              <a:t>13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届学组秘书</a:t>
            </a:r>
            <a:endParaRPr lang="zh-CN" altLang="en-US" sz="20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湖北省医学会病理学分会委员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sym typeface="+mn-ea"/>
              </a:rPr>
              <a:t>&amp;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技术组组长</a:t>
            </a:r>
            <a:endParaRPr lang="zh-CN" altLang="zh-CN" sz="20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湖北省病理质控中心专家组委员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sym typeface="+mn-ea"/>
              </a:rPr>
              <a:t>&amp;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技术组组长</a:t>
            </a:r>
            <a:endParaRPr lang="zh-CN" altLang="zh-CN" sz="20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中国合格评定国家认可委员会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sym typeface="+mn-ea"/>
              </a:rPr>
              <a:t>-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认可评审员</a:t>
            </a:r>
            <a:endParaRPr lang="zh-CN" altLang="en-US" sz="20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000" b="1" dirty="0">
                <a:solidFill>
                  <a:schemeClr val="tx1"/>
                </a:solidFill>
                <a:latin typeface="+mn-ea"/>
                <a:sym typeface="+mn-ea"/>
              </a:rPr>
              <a:t>《临床与实验病理学杂志》编委，《中华病理学杂志》审稿人</a:t>
            </a:r>
            <a:endParaRPr lang="zh-CN" altLang="zh-CN" sz="2000" b="1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160" y="883285"/>
            <a:ext cx="2904490" cy="3770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"/>
          <p:cNvSpPr/>
          <p:nvPr/>
        </p:nvSpPr>
        <p:spPr>
          <a:xfrm>
            <a:off x="5375920" y="1118751"/>
            <a:ext cx="4608511" cy="452310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张炜明   医学博士，主任技师；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南京医科大学第一附属医院（江苏省人民医院）病理学部副主任</a:t>
            </a: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。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现任：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中华医学会病理学会技术学组副组长；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江苏省医学会病理学会常委；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国家卫健委卫生人才交流评价专家；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中国医学装备协会病理装备分会常委 ；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非公医院协会病理专委</a:t>
            </a: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会副主任委员；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中国医学装备协会病理</a:t>
            </a:r>
            <a:r>
              <a:rPr lang="en-US" altLang="zh-CN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AI</a:t>
            </a: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联盟常委；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江苏省医学会病理分会技术学组组长；</a:t>
            </a:r>
            <a:endParaRPr lang="en-US" altLang="zh-CN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 algn="l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1200" cap="none" spc="0" baseline="0">
                <a:solidFill>
                  <a:srgbClr val="262673"/>
                </a:solidFill>
                <a:latin typeface="Arial" panose="020B0604020202020204" pitchFamily="34" charset="0"/>
                <a:ea typeface="黑体" panose="02010609060101010101" pitchFamily="49" charset="-122"/>
                <a:cs typeface="Calibri" panose="020F0502020204030204" charset="0"/>
              </a:rPr>
              <a:t>南京市病理医疗质量控制中心副主任</a:t>
            </a:r>
            <a:endParaRPr lang="zh-CN" altLang="en-US" sz="1600" b="0" i="0" u="none" strike="noStrike" kern="1200" cap="none" spc="0" baseline="0">
              <a:solidFill>
                <a:srgbClr val="262673"/>
              </a:solidFill>
              <a:latin typeface="Arial" panose="020B0604020202020204" pitchFamily="3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pic>
        <p:nvPicPr>
          <p:cNvPr id="26" name="图片" descr="C:\Users\Public\Documents\zwm20181111\个人文档1\标准照\26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75519" y="980728"/>
            <a:ext cx="3393810" cy="475252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WPS 演示</Application>
  <PresentationFormat>宽屏</PresentationFormat>
  <Paragraphs>67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Courier New</vt:lpstr>
      <vt:lpstr>楷体</vt:lpstr>
      <vt:lpstr>BCTQQM + ComicSansMS-Bold</vt:lpstr>
      <vt:lpstr>Times New Roman</vt:lpstr>
      <vt:lpstr>Segoe Print</vt:lpstr>
      <vt:lpstr>PGJGIF + Wingdings-Regular</vt:lpstr>
      <vt:lpstr>黑体</vt:lpstr>
      <vt:lpstr>WPS</vt:lpstr>
      <vt:lpstr>PowerPoint 演示文稿</vt:lpstr>
      <vt:lpstr>PowerPoint 演示文稿</vt:lpstr>
      <vt:lpstr>PowerPoint 演示文稿</vt:lpstr>
      <vt:lpstr>许三鹏  病理学博士,副主任技师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molecular</cp:lastModifiedBy>
  <cp:revision>5</cp:revision>
  <dcterms:created xsi:type="dcterms:W3CDTF">2023-08-09T12:44:00Z</dcterms:created>
  <dcterms:modified xsi:type="dcterms:W3CDTF">2025-01-02T08:52:38Z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