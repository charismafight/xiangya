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 id="262" r:id="rId3"/>
    <p:sldId id="260" r:id="rId4"/>
    <p:sldId id="261" r:id="rId5"/>
    <p:sldId id="263" r:id="rId6"/>
    <p:sldId id="264" r:id="rId7"/>
    <p:sldId id="265" r:id="rId8"/>
    <p:sldId id="266" r:id="rId9"/>
    <p:sldId id="267" r:id="rId10"/>
    <p:sldId id="268" r:id="rId11"/>
  </p:sldIdLst>
  <p:sldSz cx="9144000" cy="5143500" type="screen16x9"/>
  <p:notesSz cx="6858000" cy="9144000"/>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41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76"/>
  </p:normalViewPr>
  <p:slideViewPr>
    <p:cSldViewPr showGuides="1">
      <p:cViewPr varScale="1">
        <p:scale>
          <a:sx n="141" d="100"/>
          <a:sy n="141" d="100"/>
        </p:scale>
        <p:origin x="800"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pic>
        <p:nvPicPr>
          <p:cNvPr id="2" name="Picture 2" descr="C:\Users\huayinmky024\Desktop\PPT\logo02.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67544" y="310642"/>
            <a:ext cx="3787118" cy="5992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pic>
        <p:nvPicPr>
          <p:cNvPr id="2" name="Picture 2" descr="C:\Users\huayinmky024\Desktop\PPT\logo03.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652120" y="65270"/>
            <a:ext cx="2952328" cy="4671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00A29BE-AED4-4631-A63D-32985101E822}" type="datetimeFigureOut">
              <a:rPr lang="zh-CN" altLang="en-US" smtClean="0"/>
              <a:t>2025/1/8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E829CC-8543-48BA-BAA4-00556280C3B7}"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00A29BE-AED4-4631-A63D-32985101E822}" type="datetimeFigureOut">
              <a:rPr lang="zh-CN" altLang="en-US" smtClean="0"/>
              <a:t>2025/1/8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E829CC-8543-48BA-BAA4-00556280C3B7}"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00A29BE-AED4-4631-A63D-32985101E822}" type="datetimeFigureOut">
              <a:rPr lang="zh-CN" altLang="en-US" smtClean="0"/>
              <a:t>2025/1/8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E829CC-8543-48BA-BAA4-00556280C3B7}"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00A29BE-AED4-4631-A63D-32985101E822}" type="datetimeFigureOut">
              <a:rPr lang="zh-CN" altLang="en-US" smtClean="0"/>
              <a:t>2025/1/8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E829CC-8543-48BA-BAA4-00556280C3B7}"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00A29BE-AED4-4631-A63D-32985101E822}" type="datetimeFigureOut">
              <a:rPr lang="zh-CN" altLang="en-US" smtClean="0"/>
              <a:t>2025/1/8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E829CC-8543-48BA-BAA4-00556280C3B7}"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00A29BE-AED4-4631-A63D-32985101E822}" type="datetimeFigureOut">
              <a:rPr lang="zh-CN" altLang="en-US" smtClean="0"/>
              <a:t>2025/1/8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E829CC-8543-48BA-BAA4-00556280C3B7}"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00A29BE-AED4-4631-A63D-32985101E822}" type="datetimeFigureOut">
              <a:rPr lang="zh-CN" altLang="en-US" smtClean="0"/>
              <a:t>2025/1/8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E829CC-8543-48BA-BAA4-00556280C3B7}"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00A29BE-AED4-4631-A63D-32985101E822}" type="datetimeFigureOut">
              <a:rPr lang="zh-CN" altLang="en-US" smtClean="0"/>
              <a:t>2025/1/8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E829CC-8543-48BA-BAA4-00556280C3B7}"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00A29BE-AED4-4631-A63D-32985101E822}" type="datetimeFigureOut">
              <a:rPr lang="zh-CN" altLang="en-US" smtClean="0"/>
              <a:t>2025/1/8</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FE829CC-8543-48BA-BAA4-00556280C3B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custDataLst>
              <p:tags r:id="rId1"/>
            </p:custDataLst>
          </p:nvPr>
        </p:nvSpPr>
        <p:spPr>
          <a:xfrm>
            <a:off x="3069714" y="553222"/>
            <a:ext cx="5834380" cy="3962744"/>
          </a:xfrm>
          <a:solidFill>
            <a:schemeClr val="accent1">
              <a:lumMod val="20000"/>
              <a:lumOff val="80000"/>
            </a:schemeClr>
          </a:solidFill>
          <a:ln>
            <a:solidFill>
              <a:schemeClr val="tx1">
                <a:lumMod val="75000"/>
                <a:lumOff val="25000"/>
              </a:schemeClr>
            </a:solidFill>
          </a:ln>
        </p:spPr>
        <p:style>
          <a:lnRef idx="2">
            <a:schemeClr val="accent1"/>
          </a:lnRef>
          <a:fillRef idx="1">
            <a:schemeClr val="lt1"/>
          </a:fillRef>
          <a:effectRef idx="0">
            <a:schemeClr val="accent1"/>
          </a:effectRef>
          <a:fontRef idx="minor">
            <a:schemeClr val="dk1"/>
          </a:fontRef>
        </p:style>
        <p:txBody>
          <a:bodyPr>
            <a:noAutofit/>
          </a:bodyPr>
          <a:lstStyle/>
          <a:p>
            <a:pPr>
              <a:lnSpc>
                <a:spcPct val="130000"/>
              </a:lnSpc>
              <a:buClr>
                <a:srgbClr val="C00000"/>
              </a:buClr>
              <a:buFont typeface="Wingdings" panose="05000000000000000000" charset="0"/>
              <a:buChar char="n"/>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国家百千万人才工程入选者、教育部新世纪优秀人才、广东省珠江学者特聘教授、金凤实验室</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PI</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等</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buClr>
                <a:srgbClr val="C00000"/>
              </a:buClr>
              <a:buFont typeface="Wingdings" panose="05000000000000000000" charset="0"/>
              <a:buChar char="n"/>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南方医科大学基础医学院病理学系</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南方医院病理科主任</a:t>
            </a:r>
          </a:p>
          <a:p>
            <a:pPr>
              <a:lnSpc>
                <a:spcPct val="130000"/>
              </a:lnSpc>
              <a:buClr>
                <a:srgbClr val="C00000"/>
              </a:buClr>
              <a:buFont typeface="Wingdings" panose="05000000000000000000" charset="0"/>
              <a:buChar char="n"/>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荣获</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国之名医</a:t>
            </a:r>
            <a:r>
              <a:rPr lang="en-US" altLang="zh-CN" sz="1400" baseline="30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优秀风范</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和中国杰出青年病理医师等</a:t>
            </a:r>
          </a:p>
          <a:p>
            <a:pPr>
              <a:lnSpc>
                <a:spcPct val="130000"/>
              </a:lnSpc>
              <a:buClr>
                <a:srgbClr val="C00000"/>
              </a:buClr>
              <a:buFont typeface="Wingdings" panose="05000000000000000000" charset="0"/>
              <a:buChar char="n"/>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主持</a:t>
            </a:r>
            <a:r>
              <a:rPr lang="zh-CN" altLang="en-US" sz="1400" dirty="0">
                <a:latin typeface="微软雅黑" panose="020B0503020204020204" pitchFamily="34" charset="-122"/>
                <a:ea typeface="微软雅黑" panose="020B0503020204020204" pitchFamily="34" charset="-122"/>
                <a:sym typeface="+mn-ea"/>
              </a:rPr>
              <a:t>国家重点研发计划和国家自然科学基金等课题</a:t>
            </a:r>
            <a:r>
              <a:rPr lang="en-US" altLang="zh-CN" sz="1400" dirty="0">
                <a:latin typeface="微软雅黑" panose="020B0503020204020204" pitchFamily="34" charset="-122"/>
                <a:ea typeface="微软雅黑" panose="020B0503020204020204" pitchFamily="34" charset="-122"/>
                <a:sym typeface="+mn-ea"/>
              </a:rPr>
              <a:t>27</a:t>
            </a:r>
            <a:r>
              <a:rPr lang="zh-CN" altLang="en-US" sz="1400" dirty="0">
                <a:latin typeface="微软雅黑" panose="020B0503020204020204" pitchFamily="34" charset="-122"/>
                <a:ea typeface="微软雅黑" panose="020B0503020204020204" pitchFamily="34" charset="-122"/>
                <a:sym typeface="+mn-ea"/>
              </a:rPr>
              <a:t>项</a:t>
            </a:r>
          </a:p>
          <a:p>
            <a:pPr>
              <a:lnSpc>
                <a:spcPct val="130000"/>
              </a:lnSpc>
              <a:buClr>
                <a:srgbClr val="C00000"/>
              </a:buClr>
              <a:buFont typeface="Wingdings" panose="05000000000000000000" charset="0"/>
              <a:buChar char="n"/>
            </a:pPr>
            <a:r>
              <a:rPr lang="zh-CN" altLang="en-US" sz="1400" dirty="0">
                <a:latin typeface="微软雅黑" panose="020B0503020204020204" pitchFamily="34" charset="-122"/>
                <a:ea typeface="微软雅黑" panose="020B0503020204020204" pitchFamily="34" charset="-122"/>
                <a:sym typeface="+mn-ea"/>
              </a:rPr>
              <a:t>研究方向为肿瘤转移和耐药的分子诊断和智慧诊断，以通讯作者（含共同）在</a:t>
            </a:r>
            <a:r>
              <a:rPr lang="en-US" altLang="zh-CN" sz="1400" dirty="0">
                <a:latin typeface="微软雅黑" panose="020B0503020204020204" pitchFamily="34" charset="-122"/>
                <a:ea typeface="微软雅黑" panose="020B0503020204020204" pitchFamily="34" charset="-122"/>
                <a:sym typeface="+mn-ea"/>
              </a:rPr>
              <a:t>Lancet</a:t>
            </a:r>
            <a:r>
              <a:rPr lang="zh-CN" altLang="en-US" sz="1400" dirty="0">
                <a:latin typeface="微软雅黑" panose="020B0503020204020204" pitchFamily="34" charset="-122"/>
                <a:ea typeface="微软雅黑" panose="020B0503020204020204" pitchFamily="34" charset="-122"/>
                <a:sym typeface="+mn-ea"/>
              </a:rPr>
              <a:t>、</a:t>
            </a:r>
            <a:r>
              <a:rPr lang="en-US" altLang="zh-CN" sz="1400" dirty="0">
                <a:latin typeface="微软雅黑" panose="020B0503020204020204" pitchFamily="34" charset="-122"/>
                <a:ea typeface="微软雅黑" panose="020B0503020204020204" pitchFamily="34" charset="-122"/>
                <a:sym typeface="+mn-ea"/>
              </a:rPr>
              <a:t>Gastroenterology</a:t>
            </a:r>
            <a:r>
              <a:rPr lang="zh-CN" altLang="en-US" sz="1400" dirty="0">
                <a:latin typeface="微软雅黑" panose="020B0503020204020204" pitchFamily="34" charset="-122"/>
                <a:ea typeface="微软雅黑" panose="020B0503020204020204" pitchFamily="34" charset="-122"/>
                <a:sym typeface="+mn-ea"/>
              </a:rPr>
              <a:t>、</a:t>
            </a:r>
            <a:r>
              <a:rPr lang="en-US" altLang="zh-CN" sz="1400" dirty="0">
                <a:latin typeface="微软雅黑" panose="020B0503020204020204" pitchFamily="34" charset="-122"/>
                <a:ea typeface="微软雅黑" panose="020B0503020204020204" pitchFamily="34" charset="-122"/>
                <a:sym typeface="+mn-ea"/>
              </a:rPr>
              <a:t>J Hepatol</a:t>
            </a:r>
            <a:r>
              <a:rPr lang="zh-CN" altLang="en-US" sz="1400" dirty="0">
                <a:latin typeface="微软雅黑" panose="020B0503020204020204" pitchFamily="34" charset="-122"/>
                <a:ea typeface="微软雅黑" panose="020B0503020204020204" pitchFamily="34" charset="-122"/>
                <a:sym typeface="+mn-ea"/>
              </a:rPr>
              <a:t>、</a:t>
            </a:r>
            <a:r>
              <a:rPr lang="en-US" altLang="zh-CN" sz="1400" dirty="0">
                <a:latin typeface="微软雅黑" panose="020B0503020204020204" pitchFamily="34" charset="-122"/>
                <a:ea typeface="微软雅黑" panose="020B0503020204020204" pitchFamily="34" charset="-122"/>
                <a:sym typeface="+mn-ea"/>
              </a:rPr>
              <a:t>Mol Cancer</a:t>
            </a:r>
            <a:r>
              <a:rPr lang="zh-CN" altLang="en-US" sz="1400" dirty="0">
                <a:latin typeface="微软雅黑" panose="020B0503020204020204" pitchFamily="34" charset="-122"/>
                <a:ea typeface="微软雅黑" panose="020B0503020204020204" pitchFamily="34" charset="-122"/>
                <a:sym typeface="+mn-ea"/>
              </a:rPr>
              <a:t>、</a:t>
            </a:r>
            <a:r>
              <a:rPr lang="en-US" altLang="zh-CN" sz="1400" dirty="0">
                <a:latin typeface="微软雅黑" panose="020B0503020204020204" pitchFamily="34" charset="-122"/>
                <a:ea typeface="微软雅黑" panose="020B0503020204020204" pitchFamily="34" charset="-122"/>
                <a:sym typeface="+mn-ea"/>
              </a:rPr>
              <a:t>Cancer Commun</a:t>
            </a:r>
            <a:r>
              <a:rPr lang="zh-CN" altLang="en-US" sz="1400" dirty="0">
                <a:latin typeface="微软雅黑" panose="020B0503020204020204" pitchFamily="34" charset="-122"/>
                <a:ea typeface="微软雅黑" panose="020B0503020204020204" pitchFamily="34" charset="-122"/>
                <a:sym typeface="+mn-ea"/>
              </a:rPr>
              <a:t>、</a:t>
            </a:r>
            <a:r>
              <a:rPr lang="en-US" altLang="zh-CN" sz="1400" dirty="0">
                <a:latin typeface="微软雅黑" panose="020B0503020204020204" pitchFamily="34" charset="-122"/>
                <a:ea typeface="微软雅黑" panose="020B0503020204020204" pitchFamily="34" charset="-122"/>
                <a:sym typeface="+mn-ea"/>
              </a:rPr>
              <a:t>Nat </a:t>
            </a:r>
            <a:r>
              <a:rPr lang="en-US" altLang="zh-CN" sz="1400" dirty="0" err="1">
                <a:latin typeface="微软雅黑" panose="020B0503020204020204" pitchFamily="34" charset="-122"/>
                <a:ea typeface="微软雅黑" panose="020B0503020204020204" pitchFamily="34" charset="-122"/>
                <a:sym typeface="+mn-ea"/>
              </a:rPr>
              <a:t>Commun</a:t>
            </a:r>
            <a:r>
              <a:rPr lang="zh-CN" altLang="en-US" sz="1400" dirty="0">
                <a:latin typeface="微软雅黑" panose="020B0503020204020204" pitchFamily="34" charset="-122"/>
                <a:ea typeface="微软雅黑" panose="020B0503020204020204" pitchFamily="34" charset="-122"/>
                <a:sym typeface="+mn-ea"/>
              </a:rPr>
              <a:t>等发表</a:t>
            </a:r>
            <a:r>
              <a:rPr lang="en-US" altLang="en-US" sz="1400" dirty="0">
                <a:latin typeface="微软雅黑" panose="020B0503020204020204" pitchFamily="34" charset="-122"/>
                <a:ea typeface="微软雅黑" panose="020B0503020204020204" pitchFamily="34" charset="-122"/>
                <a:sym typeface="+mn-ea"/>
              </a:rPr>
              <a:t>SCI</a:t>
            </a:r>
            <a:r>
              <a:rPr lang="zh-CN" altLang="en-US" sz="1400" dirty="0">
                <a:latin typeface="微软雅黑" panose="020B0503020204020204" pitchFamily="34" charset="-122"/>
                <a:ea typeface="微软雅黑" panose="020B0503020204020204" pitchFamily="34" charset="-122"/>
                <a:sym typeface="+mn-ea"/>
              </a:rPr>
              <a:t>论文；以第一完成人荣获中华医学科技一等奖、广东省自然科学一等奖各</a:t>
            </a:r>
            <a:r>
              <a:rPr lang="en-US" altLang="zh-CN" sz="1400" dirty="0">
                <a:latin typeface="微软雅黑" panose="020B0503020204020204" pitchFamily="34" charset="-122"/>
                <a:ea typeface="微软雅黑" panose="020B0503020204020204" pitchFamily="34" charset="-122"/>
                <a:sym typeface="+mn-ea"/>
              </a:rPr>
              <a:t>1</a:t>
            </a:r>
            <a:r>
              <a:rPr lang="zh-CN" altLang="en-US" sz="1400" dirty="0">
                <a:latin typeface="微软雅黑" panose="020B0503020204020204" pitchFamily="34" charset="-122"/>
                <a:ea typeface="微软雅黑" panose="020B0503020204020204" pitchFamily="34" charset="-122"/>
                <a:sym typeface="+mn-ea"/>
              </a:rPr>
              <a:t>项等；</a:t>
            </a:r>
          </a:p>
          <a:p>
            <a:pPr>
              <a:lnSpc>
                <a:spcPct val="130000"/>
              </a:lnSpc>
              <a:buClr>
                <a:srgbClr val="C00000"/>
              </a:buClr>
              <a:buFont typeface="Wingdings" panose="05000000000000000000" charset="0"/>
              <a:buChar char="n"/>
            </a:pPr>
            <a:r>
              <a:rPr lang="zh-CN" altLang="en-US" sz="1400" dirty="0">
                <a:latin typeface="微软雅黑" panose="020B0503020204020204" pitchFamily="34" charset="-122"/>
                <a:ea typeface="微软雅黑" panose="020B0503020204020204" pitchFamily="34" charset="-122"/>
                <a:sym typeface="+mn-ea"/>
              </a:rPr>
              <a:t>学术</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兼职：国际病理学会中国区分会秘书长、中国医疗保健国际交流促进会病理学分会主任委员、中国抗癌协会肿瘤转移委员会候任主任委员、中国医师协会病理科医师分会常委兼总干事、广东省医师协会病理科医师分会主任委员等</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custDataLst>
              <p:tags r:id="rId2"/>
            </p:custDataLst>
          </p:nvPr>
        </p:nvPicPr>
        <p:blipFill>
          <a:blip r:embed="rId4"/>
          <a:stretch>
            <a:fillRect/>
          </a:stretch>
        </p:blipFill>
        <p:spPr>
          <a:xfrm>
            <a:off x="539750" y="771525"/>
            <a:ext cx="2371725" cy="3202940"/>
          </a:xfrm>
          <a:prstGeom prst="rect">
            <a:avLst/>
          </a:prstGeom>
        </p:spPr>
      </p:pic>
      <p:sp>
        <p:nvSpPr>
          <p:cNvPr id="2" name="文本框 1"/>
          <p:cNvSpPr txBox="1"/>
          <p:nvPr/>
        </p:nvSpPr>
        <p:spPr>
          <a:xfrm>
            <a:off x="361750" y="3985397"/>
            <a:ext cx="2732678" cy="1104265"/>
          </a:xfrm>
          <a:prstGeom prst="rect">
            <a:avLst/>
          </a:prstGeom>
          <a:noFill/>
        </p:spPr>
        <p:txBody>
          <a:bodyPr wrap="square" rtlCol="0" anchor="t">
            <a:noAutofit/>
          </a:bodyPr>
          <a:lstStyle/>
          <a:p>
            <a:pPr algn="ctr">
              <a:lnSpc>
                <a:spcPct val="130000"/>
              </a:lnSpc>
            </a:pP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ea"/>
              </a:rPr>
              <a:t>梁莉 教授</a:t>
            </a:r>
            <a:endParaRPr lang="en-US" altLang="zh-CN" sz="14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lnSpc>
                <a:spcPct val="130000"/>
              </a:lnSpc>
            </a:pP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ea"/>
              </a:rPr>
              <a:t>主任医师、博士生导师</a:t>
            </a:r>
            <a:endParaRPr lang="en-US" altLang="zh-CN" sz="14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lnSpc>
                <a:spcPct val="130000"/>
              </a:lnSpc>
            </a:pP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ea"/>
              </a:rPr>
              <a:t>南方医科大学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a:extLst>
              <a:ext uri="{FF2B5EF4-FFF2-40B4-BE49-F238E27FC236}">
                <a16:creationId xmlns:a16="http://schemas.microsoft.com/office/drawing/2014/main" id="{D6BBCEBE-DD14-2383-EDE7-FB374CD3CD95}"/>
              </a:ext>
            </a:extLst>
          </p:cNvPr>
          <p:cNvPicPr>
            <a:picLocks noChangeAspect="1" noChangeArrowheads="1"/>
          </p:cNvPicPr>
          <p:nvPr/>
        </p:nvPicPr>
        <p:blipFill rotWithShape="1">
          <a:blip r:embed="rId2" cstate="print"/>
          <a:srcRect b="85263"/>
          <a:stretch/>
        </p:blipFill>
        <p:spPr bwMode="auto">
          <a:xfrm>
            <a:off x="0" y="0"/>
            <a:ext cx="9144000" cy="1052736"/>
          </a:xfrm>
          <a:prstGeom prst="rect">
            <a:avLst/>
          </a:prstGeom>
          <a:noFill/>
          <a:ln w="9525">
            <a:noFill/>
            <a:miter lim="800000"/>
            <a:headEnd/>
            <a:tailEnd/>
          </a:ln>
        </p:spPr>
      </p:pic>
      <p:sp>
        <p:nvSpPr>
          <p:cNvPr id="4" name="Rectangle 2">
            <a:extLst>
              <a:ext uri="{FF2B5EF4-FFF2-40B4-BE49-F238E27FC236}">
                <a16:creationId xmlns:a16="http://schemas.microsoft.com/office/drawing/2014/main" id="{B5A0CF49-598D-D79C-8309-1BB1CCAEF4F2}"/>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3">
            <a:extLst>
              <a:ext uri="{FF2B5EF4-FFF2-40B4-BE49-F238E27FC236}">
                <a16:creationId xmlns:a16="http://schemas.microsoft.com/office/drawing/2014/main" id="{A91C4C62-4C38-5E16-94D0-70CCFDFA9FA2}"/>
              </a:ext>
            </a:extLst>
          </p:cNvPr>
          <p:cNvSpPr>
            <a:spLocks noChangeArrowheads="1"/>
          </p:cNvSpPr>
          <p:nvPr/>
        </p:nvSpPr>
        <p:spPr bwMode="auto">
          <a:xfrm>
            <a:off x="2730903" y="1203598"/>
            <a:ext cx="6337298" cy="3552511"/>
          </a:xfrm>
          <a:prstGeom prst="rect">
            <a:avLst/>
          </a:prstGeom>
          <a:noFill/>
          <a:ln w="9525">
            <a:solidFill>
              <a:srgbClr val="00B05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ctr" anchorCtr="0" compatLnSpc="1">
            <a:prstTxWarp prst="textNoShape">
              <a:avLst/>
            </a:prstTxWarp>
            <a:spAutoFit/>
          </a:bodyPr>
          <a:lstStyle/>
          <a:p>
            <a:pPr marL="285750" indent="-285750">
              <a:lnSpc>
                <a:spcPct val="135000"/>
              </a:lnSpc>
              <a:buFont typeface="Wingdings" panose="05000000000000000000" pitchFamily="2" charset="2"/>
              <a:buChar char="l"/>
              <a:defRPr/>
            </a:pP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中山大学肿瘤学二级</a:t>
            </a:r>
            <a:r>
              <a:rPr lang="zh-CN" altLang="en-US"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rPr>
              <a:t>教授</a:t>
            </a: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、博士生导师</a:t>
            </a:r>
            <a:endPar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endParaRPr>
          </a:p>
          <a:p>
            <a:pPr marL="285750" indent="-285750">
              <a:lnSpc>
                <a:spcPct val="135000"/>
              </a:lnSpc>
              <a:buFont typeface="Wingdings" panose="05000000000000000000" pitchFamily="2" charset="2"/>
              <a:buChar char="l"/>
              <a:defRPr/>
            </a:pP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中山大学华南恶性肿瘤防治全国重点实验室副主任</a:t>
            </a:r>
            <a:endPar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endParaRPr>
          </a:p>
          <a:p>
            <a:pPr marL="285750" indent="-285750">
              <a:lnSpc>
                <a:spcPct val="135000"/>
              </a:lnSpc>
              <a:buFont typeface="Wingdings" panose="05000000000000000000" pitchFamily="2" charset="2"/>
              <a:buChar char="l"/>
              <a:defRPr/>
            </a:pPr>
            <a:r>
              <a:rPr lang="zh-CN" altLang="en-US" sz="1400" b="1" dirty="0">
                <a:solidFill>
                  <a:srgbClr val="008000"/>
                </a:solidFill>
                <a:latin typeface="微软雅黑" panose="020B0503020204020204" pitchFamily="34" charset="-122"/>
                <a:ea typeface="微软雅黑" panose="020B0503020204020204" pitchFamily="34" charset="-122"/>
              </a:rPr>
              <a:t>中山大学肿瘤防治中心实验研究部主任</a:t>
            </a:r>
          </a:p>
          <a:p>
            <a:pPr marL="285750" marR="0" lvl="0" indent="-285750" algn="l" defTabSz="914400" rtl="0" eaLnBrk="0" fontAlgn="base" latinLnBrk="0" hangingPunct="0">
              <a:lnSpc>
                <a:spcPct val="135000"/>
              </a:lnSpc>
              <a:spcBef>
                <a:spcPct val="0"/>
              </a:spcBef>
              <a:spcAft>
                <a:spcPct val="0"/>
              </a:spcAft>
              <a:buClrTx/>
              <a:buSzTx/>
              <a:buFont typeface="Wingdings" panose="05000000000000000000" pitchFamily="2" charset="2"/>
              <a:buChar char="l"/>
              <a:tabLst/>
            </a:pP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中国抗癌协会抗癌药物专业委员会副主任委员</a:t>
            </a:r>
            <a:endPar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endParaRPr>
          </a:p>
          <a:p>
            <a:pPr eaLnBrk="0" fontAlgn="base" hangingPunct="0">
              <a:lnSpc>
                <a:spcPct val="135000"/>
              </a:lnSpc>
              <a:spcBef>
                <a:spcPct val="0"/>
              </a:spcBef>
              <a:spcAft>
                <a:spcPct val="0"/>
              </a:spcAft>
            </a:pP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    中国药理学会</a:t>
            </a:r>
            <a:r>
              <a:rPr lang="zh-CN" altLang="en-US"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rPr>
              <a:t>肿瘤药理专业委员会副主任委员</a:t>
            </a:r>
            <a:endPar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endParaRPr>
          </a:p>
          <a:p>
            <a:pPr lvl="0" eaLnBrk="0" fontAlgn="base" hangingPunct="0">
              <a:lnSpc>
                <a:spcPct val="135000"/>
              </a:lnSpc>
              <a:spcBef>
                <a:spcPct val="0"/>
              </a:spcBef>
              <a:spcAft>
                <a:spcPct val="0"/>
              </a:spcAft>
            </a:pP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    中国</a:t>
            </a:r>
            <a:r>
              <a:rPr lang="zh-CN" altLang="en-US"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rPr>
              <a:t>抗癌协会肿瘤精准治疗专业委员会常务委员</a:t>
            </a:r>
            <a:endPar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endParaRPr>
          </a:p>
          <a:p>
            <a:pPr marR="0" lvl="0" algn="l" defTabSz="914400" rtl="0" eaLnBrk="0" fontAlgn="base" latinLnBrk="0" hangingPunct="0">
              <a:lnSpc>
                <a:spcPct val="135000"/>
              </a:lnSpc>
              <a:spcBef>
                <a:spcPct val="0"/>
              </a:spcBef>
              <a:spcAft>
                <a:spcPct val="0"/>
              </a:spcAft>
              <a:buClrTx/>
              <a:buSzTx/>
              <a:tabLst/>
            </a:pP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    广东省抗癌协会抗肿瘤药物专业委员会主任委员</a:t>
            </a:r>
            <a:endPar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endParaRPr>
          </a:p>
          <a:p>
            <a:pPr marL="285750" marR="0" lvl="0" indent="-285750" algn="l" defTabSz="914400" rtl="0" eaLnBrk="0" fontAlgn="base" latinLnBrk="0" hangingPunct="0">
              <a:lnSpc>
                <a:spcPct val="135000"/>
              </a:lnSpc>
              <a:spcBef>
                <a:spcPct val="0"/>
              </a:spcBef>
              <a:spcAft>
                <a:spcPct val="0"/>
              </a:spcAft>
              <a:buClrTx/>
              <a:buSzTx/>
              <a:buFont typeface="Wingdings" panose="05000000000000000000" pitchFamily="2" charset="2"/>
              <a:buChar char="l"/>
              <a:tabLst/>
            </a:pPr>
            <a:r>
              <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a:t>
            </a:r>
            <a:r>
              <a:rPr kumimoji="0" lang="en-US" altLang="zh-CN" sz="1400" b="1" i="1"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Cancer Communications</a:t>
            </a:r>
            <a:r>
              <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a:t>
            </a: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a:t>
            </a:r>
            <a:r>
              <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a:t>
            </a:r>
            <a:r>
              <a:rPr kumimoji="0" lang="en-US" altLang="zh-CN" sz="1400" b="1" i="1"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Advances in Therapy</a:t>
            </a:r>
            <a:r>
              <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a:t>
            </a: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等编委</a:t>
            </a:r>
            <a:endPar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endParaRPr>
          </a:p>
          <a:p>
            <a:pPr marL="285750" marR="0" lvl="0" indent="-285750" algn="l" defTabSz="914400" rtl="0" eaLnBrk="0" fontAlgn="base" latinLnBrk="0" hangingPunct="0">
              <a:lnSpc>
                <a:spcPct val="135000"/>
              </a:lnSpc>
              <a:spcBef>
                <a:spcPct val="0"/>
              </a:spcBef>
              <a:spcAft>
                <a:spcPct val="0"/>
              </a:spcAft>
              <a:buClrTx/>
              <a:buSzTx/>
              <a:buFont typeface="Wingdings" panose="05000000000000000000" pitchFamily="2" charset="2"/>
              <a:buChar char="l"/>
              <a:tabLst/>
            </a:pP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承担国自然重点项目、重点专项、</a:t>
            </a:r>
            <a:r>
              <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973</a:t>
            </a: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计划、国家重点研发计划等课题</a:t>
            </a:r>
            <a:endPar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endParaRPr>
          </a:p>
          <a:p>
            <a:pPr marL="285750" marR="0" lvl="0" indent="-285750" algn="l" defTabSz="914400" rtl="0" eaLnBrk="0" fontAlgn="base" latinLnBrk="0" hangingPunct="0">
              <a:lnSpc>
                <a:spcPct val="135000"/>
              </a:lnSpc>
              <a:spcBef>
                <a:spcPct val="0"/>
              </a:spcBef>
              <a:spcAft>
                <a:spcPct val="0"/>
              </a:spcAft>
              <a:buClrTx/>
              <a:buSzTx/>
              <a:buFont typeface="Wingdings" panose="05000000000000000000" pitchFamily="2" charset="2"/>
              <a:buChar char="l"/>
              <a:tabLst/>
              <a:defRPr/>
            </a:pPr>
            <a:r>
              <a:rPr lang="zh-CN" altLang="en-US" sz="1400" b="1" dirty="0">
                <a:solidFill>
                  <a:srgbClr val="008000"/>
                </a:solidFill>
                <a:latin typeface="微软雅黑" panose="020B0503020204020204" pitchFamily="34" charset="-122"/>
                <a:ea typeface="微软雅黑" panose="020B0503020204020204" pitchFamily="34" charset="-122"/>
              </a:rPr>
              <a:t>代表性通讯作者论文：</a:t>
            </a:r>
            <a:r>
              <a:rPr lang="en-US" altLang="zh-CN" sz="1400" b="1" i="1" dirty="0">
                <a:solidFill>
                  <a:srgbClr val="008000"/>
                </a:solidFill>
                <a:latin typeface="微软雅黑" panose="020B0503020204020204" pitchFamily="34" charset="-122"/>
                <a:ea typeface="微软雅黑" panose="020B0503020204020204" pitchFamily="34" charset="-122"/>
              </a:rPr>
              <a:t>Nat Cell Biol</a:t>
            </a:r>
            <a:r>
              <a:rPr lang="en-US" altLang="zh-CN" sz="1400" b="1" dirty="0">
                <a:solidFill>
                  <a:srgbClr val="008000"/>
                </a:solidFill>
                <a:latin typeface="微软雅黑" panose="020B0503020204020204" pitchFamily="34" charset="-122"/>
                <a:ea typeface="微软雅黑" panose="020B0503020204020204" pitchFamily="34" charset="-122"/>
              </a:rPr>
              <a:t>, </a:t>
            </a:r>
            <a:r>
              <a:rPr lang="en-US" altLang="zh-CN" sz="1400" b="1" i="1" dirty="0">
                <a:solidFill>
                  <a:srgbClr val="008000"/>
                </a:solidFill>
                <a:latin typeface="微软雅黑" panose="020B0503020204020204" pitchFamily="34" charset="-122"/>
                <a:ea typeface="微软雅黑" panose="020B0503020204020204" pitchFamily="34" charset="-122"/>
              </a:rPr>
              <a:t>Sci </a:t>
            </a:r>
            <a:r>
              <a:rPr lang="en-US" altLang="zh-CN" sz="1400" b="1" i="1" dirty="0" err="1">
                <a:solidFill>
                  <a:srgbClr val="008000"/>
                </a:solidFill>
                <a:latin typeface="微软雅黑" panose="020B0503020204020204" pitchFamily="34" charset="-122"/>
                <a:ea typeface="微软雅黑" panose="020B0503020204020204" pitchFamily="34" charset="-122"/>
              </a:rPr>
              <a:t>transl</a:t>
            </a:r>
            <a:r>
              <a:rPr lang="en-US" altLang="zh-CN" sz="1400" b="1" i="1" dirty="0">
                <a:solidFill>
                  <a:srgbClr val="008000"/>
                </a:solidFill>
                <a:latin typeface="微软雅黑" panose="020B0503020204020204" pitchFamily="34" charset="-122"/>
                <a:ea typeface="微软雅黑" panose="020B0503020204020204" pitchFamily="34" charset="-122"/>
              </a:rPr>
              <a:t> Med, Nat </a:t>
            </a:r>
            <a:r>
              <a:rPr lang="en-US" altLang="zh-CN" sz="1400" b="1" i="1" dirty="0" err="1">
                <a:solidFill>
                  <a:srgbClr val="008000"/>
                </a:solidFill>
                <a:latin typeface="微软雅黑" panose="020B0503020204020204" pitchFamily="34" charset="-122"/>
                <a:ea typeface="微软雅黑" panose="020B0503020204020204" pitchFamily="34" charset="-122"/>
              </a:rPr>
              <a:t>Commun</a:t>
            </a:r>
            <a:r>
              <a:rPr lang="en-US" altLang="zh-CN" sz="1400" b="1" i="1" dirty="0">
                <a:solidFill>
                  <a:srgbClr val="008000"/>
                </a:solidFill>
                <a:latin typeface="微软雅黑" panose="020B0503020204020204" pitchFamily="34" charset="-122"/>
                <a:ea typeface="微软雅黑" panose="020B0503020204020204" pitchFamily="34" charset="-122"/>
              </a:rPr>
              <a:t> ╳ 4, Autophagy ╳ 5 </a:t>
            </a:r>
            <a:r>
              <a:rPr lang="zh-CN" altLang="en-US" sz="1400" b="1" i="1" dirty="0">
                <a:solidFill>
                  <a:srgbClr val="008000"/>
                </a:solidFill>
                <a:latin typeface="微软雅黑" panose="020B0503020204020204" pitchFamily="34" charset="-122"/>
                <a:ea typeface="微软雅黑" panose="020B0503020204020204" pitchFamily="34" charset="-122"/>
              </a:rPr>
              <a:t>等</a:t>
            </a:r>
            <a:endParaRPr lang="en-US" altLang="zh-CN" sz="1400" b="1" dirty="0">
              <a:solidFill>
                <a:srgbClr val="008000"/>
              </a:solidFill>
              <a:latin typeface="微软雅黑" panose="020B0503020204020204" pitchFamily="34" charset="-122"/>
              <a:ea typeface="微软雅黑" panose="020B0503020204020204" pitchFamily="34" charset="-122"/>
            </a:endParaRPr>
          </a:p>
          <a:p>
            <a:pPr marL="285750" marR="0" lvl="0" indent="-285750" algn="l" defTabSz="914400" rtl="0" eaLnBrk="0" fontAlgn="base" latinLnBrk="0" hangingPunct="0">
              <a:lnSpc>
                <a:spcPct val="135000"/>
              </a:lnSpc>
              <a:spcBef>
                <a:spcPct val="0"/>
              </a:spcBef>
              <a:spcAft>
                <a:spcPct val="0"/>
              </a:spcAft>
              <a:buClrTx/>
              <a:buSzTx/>
              <a:buFont typeface="Wingdings" panose="05000000000000000000" pitchFamily="2" charset="2"/>
              <a:buChar char="l"/>
              <a:tabLst/>
            </a:pP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主编人民卫生出版社</a:t>
            </a:r>
            <a:r>
              <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a:t>
            </a:r>
            <a:r>
              <a:rPr kumimoji="0" lang="zh-CN" altLang="en-US"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信号转导与疾病</a:t>
            </a:r>
            <a:r>
              <a:rPr kumimoji="0" lang="en-US" altLang="zh-CN" sz="1400" b="1" i="0" u="none" strike="noStrike" cap="none" normalizeH="0" baseline="0" dirty="0">
                <a:ln>
                  <a:noFill/>
                </a:ln>
                <a:solidFill>
                  <a:srgbClr val="008000"/>
                </a:solidFill>
                <a:effectLst/>
                <a:latin typeface="微软雅黑" panose="020B0503020204020204" pitchFamily="34" charset="-122"/>
                <a:ea typeface="微软雅黑" panose="020B0503020204020204" pitchFamily="34" charset="-122"/>
                <a:cs typeface="宋体" panose="02010600030101010101" pitchFamily="2" charset="-122"/>
              </a:rPr>
              <a:t>》</a:t>
            </a:r>
          </a:p>
        </p:txBody>
      </p:sp>
      <p:pic>
        <p:nvPicPr>
          <p:cNvPr id="6" name="图片 5">
            <a:extLst>
              <a:ext uri="{FF2B5EF4-FFF2-40B4-BE49-F238E27FC236}">
                <a16:creationId xmlns:a16="http://schemas.microsoft.com/office/drawing/2014/main" id="{1B3E3575-6172-7733-0BA7-86CB983DC0D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7915" t="5063" r="25950" b="53586"/>
          <a:stretch/>
        </p:blipFill>
        <p:spPr bwMode="auto">
          <a:xfrm>
            <a:off x="515055" y="1292275"/>
            <a:ext cx="1821275" cy="2448272"/>
          </a:xfrm>
          <a:prstGeom prst="rect">
            <a:avLst/>
          </a:prstGeom>
          <a:ln>
            <a:noFill/>
          </a:ln>
          <a:extLst>
            <a:ext uri="{53640926-AAD7-44D8-BBD7-CCE9431645EC}">
              <a14:shadowObscured xmlns:a14="http://schemas.microsoft.com/office/drawing/2010/main"/>
            </a:ext>
          </a:extLst>
        </p:spPr>
      </p:pic>
      <p:sp>
        <p:nvSpPr>
          <p:cNvPr id="7" name="矩形 6">
            <a:extLst>
              <a:ext uri="{FF2B5EF4-FFF2-40B4-BE49-F238E27FC236}">
                <a16:creationId xmlns:a16="http://schemas.microsoft.com/office/drawing/2014/main" id="{4F998754-6B73-F03C-0AAB-E72DBA9BE4F3}"/>
              </a:ext>
            </a:extLst>
          </p:cNvPr>
          <p:cNvSpPr/>
          <p:nvPr/>
        </p:nvSpPr>
        <p:spPr>
          <a:xfrm>
            <a:off x="76010" y="3821238"/>
            <a:ext cx="2699363" cy="934871"/>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pPr algn="ctr">
              <a:lnSpc>
                <a:spcPct val="135000"/>
              </a:lnSpc>
              <a:defRPr/>
            </a:pPr>
            <a:r>
              <a:rPr lang="zh-CN" altLang="zh-CN" sz="1400" b="1" dirty="0">
                <a:solidFill>
                  <a:srgbClr val="008000"/>
                </a:solidFill>
                <a:latin typeface="微软雅黑" panose="020B0503020204020204" pitchFamily="34" charset="-122"/>
                <a:ea typeface="微软雅黑" panose="020B0503020204020204" pitchFamily="34" charset="-122"/>
              </a:rPr>
              <a:t>朱孝峰</a:t>
            </a:r>
            <a:r>
              <a:rPr lang="en-US" altLang="zh-CN" sz="1400" b="1" dirty="0">
                <a:solidFill>
                  <a:srgbClr val="008000"/>
                </a:solidFill>
                <a:latin typeface="微软雅黑" panose="020B0503020204020204" pitchFamily="34" charset="-122"/>
                <a:ea typeface="微软雅黑" panose="020B0503020204020204" pitchFamily="34" charset="-122"/>
              </a:rPr>
              <a:t> </a:t>
            </a:r>
            <a:r>
              <a:rPr lang="zh-CN" altLang="zh-CN"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rPr>
              <a:t>教授</a:t>
            </a:r>
            <a:endParaRPr lang="en-US" altLang="zh-CN"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endParaRPr>
          </a:p>
          <a:p>
            <a:pPr algn="ctr">
              <a:lnSpc>
                <a:spcPct val="135000"/>
              </a:lnSpc>
              <a:defRPr/>
            </a:pPr>
            <a:r>
              <a:rPr lang="en-US" altLang="zh-CN" sz="1400" b="1" dirty="0">
                <a:solidFill>
                  <a:srgbClr val="008000"/>
                </a:solidFill>
                <a:latin typeface="微软雅黑" panose="020B0503020204020204" pitchFamily="34" charset="-122"/>
                <a:ea typeface="微软雅黑" panose="020B0503020204020204" pitchFamily="34" charset="-122"/>
              </a:rPr>
              <a:t>   </a:t>
            </a:r>
            <a:r>
              <a:rPr lang="zh-CN" altLang="zh-CN" sz="1400" b="1" dirty="0">
                <a:solidFill>
                  <a:srgbClr val="008000"/>
                </a:solidFill>
                <a:latin typeface="微软雅黑" panose="020B0503020204020204" pitchFamily="34" charset="-122"/>
                <a:ea typeface="微软雅黑" panose="020B0503020204020204" pitchFamily="34" charset="-122"/>
              </a:rPr>
              <a:t>中</a:t>
            </a:r>
            <a:r>
              <a:rPr lang="zh-CN" altLang="zh-CN"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rPr>
              <a:t>山大学肿瘤防治中</a:t>
            </a:r>
            <a:r>
              <a:rPr lang="zh-CN" altLang="en-US"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rPr>
              <a:t>心</a:t>
            </a:r>
            <a:endParaRPr lang="en-US" altLang="zh-CN"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endParaRPr>
          </a:p>
          <a:p>
            <a:pPr algn="ctr">
              <a:lnSpc>
                <a:spcPct val="135000"/>
              </a:lnSpc>
              <a:defRPr/>
            </a:pPr>
            <a:r>
              <a:rPr lang="zh-CN" altLang="en-US"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rPr>
              <a:t>（肿瘤医院</a:t>
            </a:r>
            <a:r>
              <a:rPr lang="en-US" altLang="zh-CN"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rPr>
              <a:t>&amp;</a:t>
            </a:r>
            <a:r>
              <a:rPr lang="zh-CN" altLang="en-US"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rPr>
              <a:t>肿瘤研究所）</a:t>
            </a:r>
            <a:endParaRPr lang="en-US" altLang="zh-CN" sz="1400" b="1" dirty="0">
              <a:solidFill>
                <a:srgbClr val="008000"/>
              </a:solidFill>
              <a:latin typeface="微软雅黑" panose="020B0503020204020204" pitchFamily="34" charset="-122"/>
              <a:ea typeface="微软雅黑" panose="020B0503020204020204" pitchFamily="34" charset="-122"/>
              <a:cs typeface="宋体" panose="02010600030101010101" pitchFamily="2" charset="-122"/>
            </a:endParaRPr>
          </a:p>
        </p:txBody>
      </p:sp>
      <p:pic>
        <p:nvPicPr>
          <p:cNvPr id="8" name="图片 7">
            <a:extLst>
              <a:ext uri="{FF2B5EF4-FFF2-40B4-BE49-F238E27FC236}">
                <a16:creationId xmlns:a16="http://schemas.microsoft.com/office/drawing/2014/main" id="{D1AAA8E5-7C01-9049-2EB9-35DF0FF96F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5536" y="125946"/>
            <a:ext cx="826649" cy="826649"/>
          </a:xfrm>
          <a:prstGeom prst="rect">
            <a:avLst/>
          </a:prstGeom>
        </p:spPr>
      </p:pic>
    </p:spTree>
    <p:extLst>
      <p:ext uri="{BB962C8B-B14F-4D97-AF65-F5344CB8AC3E}">
        <p14:creationId xmlns:p14="http://schemas.microsoft.com/office/powerpoint/2010/main" val="3347277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A9ED5DF-EC4E-C178-D81F-AC1B8E7C1843}"/>
              </a:ext>
            </a:extLst>
          </p:cNvPr>
          <p:cNvSpPr txBox="1"/>
          <p:nvPr/>
        </p:nvSpPr>
        <p:spPr>
          <a:xfrm>
            <a:off x="2982566" y="120887"/>
            <a:ext cx="6048672" cy="4901726"/>
          </a:xfrm>
          <a:prstGeom prst="rect">
            <a:avLst/>
          </a:prstGeom>
          <a:noFill/>
          <a:ln>
            <a:solidFill>
              <a:schemeClr val="accent3">
                <a:lumMod val="75000"/>
              </a:schemeClr>
            </a:solidFill>
          </a:ln>
        </p:spPr>
        <p:txBody>
          <a:bodyPr wrap="square">
            <a:spAutoFit/>
          </a:bodyPr>
          <a:lstStyle/>
          <a:p>
            <a:pPr algn="just">
              <a:lnSpc>
                <a:spcPct val="150000"/>
              </a:lnSpc>
            </a:pPr>
            <a:r>
              <a:rPr lang="zh-CN"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中华医学会病理学分会委员</a:t>
            </a:r>
            <a:endParaRPr lang="en-US"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r>
              <a:rPr lang="zh-CN"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中华医学会器官移植学分会移植病理学组委员</a:t>
            </a:r>
            <a:endParaRPr lang="en-US"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r>
              <a:rPr lang="zh-CN" altLang="zh-CN" sz="1400" dirty="0">
                <a:latin typeface="微软雅黑" panose="020B0503020204020204" pitchFamily="34" charset="-122"/>
                <a:ea typeface="微软雅黑" panose="020B0503020204020204" pitchFamily="34" charset="-122"/>
                <a:cs typeface="Calibri" panose="020F0502020204030204" pitchFamily="34" charset="0"/>
              </a:rPr>
              <a:t>中国抗癌协会肿瘤病理专委会肝脏病理学组委员</a:t>
            </a:r>
            <a:endParaRPr lang="en-US" altLang="zh-CN" sz="1400" dirty="0">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r>
              <a:rPr lang="zh-CN"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中国医师协会器官移植医师分会组织和细胞移植专委会委员</a:t>
            </a:r>
            <a:endParaRPr lang="en-US"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r>
              <a:rPr lang="zh-CN" altLang="en-US"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中国医疗保健国际交流促进会肝胆疾病学分会常委</a:t>
            </a:r>
            <a:endParaRPr lang="en-US"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r>
              <a:rPr lang="zh-CN" altLang="en-US"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海峡两岸医药卫生交流协会肝胆胰外科专业委员会委员</a:t>
            </a:r>
            <a:endParaRPr lang="en-US"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r>
              <a:rPr lang="zh-CN"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四川省医学会病理学专委会委员</a:t>
            </a:r>
            <a:endParaRPr lang="en-US"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r>
              <a:rPr lang="zh-CN"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四川省医学会器官移植专委会委员</a:t>
            </a:r>
            <a:endParaRPr lang="en-US"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r>
              <a:rPr lang="zh-CN" altLang="en-US"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四川省免疫学会移植免疫专委会委员</a:t>
            </a:r>
            <a:endParaRPr lang="en-US"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r>
              <a:rPr lang="zh-CN"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四川省肿瘤学会肝癌专委会常委</a:t>
            </a:r>
            <a:endParaRPr lang="en-US"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r>
              <a:rPr lang="zh-CN" altLang="zh-CN" sz="1400" dirty="0">
                <a:latin typeface="微软雅黑" panose="020B0503020204020204" pitchFamily="34" charset="-122"/>
                <a:ea typeface="微软雅黑" panose="020B0503020204020204" pitchFamily="34" charset="-122"/>
                <a:cs typeface="Calibri" panose="020F0502020204030204" pitchFamily="34" charset="0"/>
              </a:rPr>
              <a:t>四川省国际医学交流促进会肝胆外科分会副会长</a:t>
            </a:r>
            <a:endParaRPr lang="en-US" altLang="zh-CN" sz="1400" dirty="0">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endParaRPr lang="en-US" altLang="zh-CN" sz="1400" kern="100"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algn="just">
              <a:lnSpc>
                <a:spcPct val="150000"/>
              </a:lnSpc>
            </a:pPr>
            <a:r>
              <a:rPr lang="zh-CN" altLang="zh-CN" sz="1400" dirty="0">
                <a:effectLst/>
                <a:latin typeface="微软雅黑" panose="020B0503020204020204" pitchFamily="34" charset="-122"/>
                <a:ea typeface="微软雅黑" panose="020B0503020204020204" pitchFamily="34" charset="-122"/>
                <a:cs typeface="Calibri" panose="020F0502020204030204" pitchFamily="34" charset="0"/>
              </a:rPr>
              <a:t>主要从事肝脏病理的基础与转化研究、肝脏损伤修复的机制和细胞治疗研究。</a:t>
            </a:r>
            <a:r>
              <a:rPr lang="zh-CN" altLang="zh-CN" sz="1400" dirty="0">
                <a:latin typeface="微软雅黑" panose="020B0503020204020204" pitchFamily="34" charset="-122"/>
                <a:ea typeface="微软雅黑" panose="020B0503020204020204" pitchFamily="34" charset="-122"/>
                <a:cs typeface="Calibri" panose="020F0502020204030204" pitchFamily="34" charset="0"/>
              </a:rPr>
              <a:t>主持</a:t>
            </a:r>
            <a:r>
              <a:rPr lang="en-US" altLang="zh-CN" sz="1400" dirty="0">
                <a:latin typeface="微软雅黑" panose="020B0503020204020204" pitchFamily="34" charset="-122"/>
                <a:ea typeface="微软雅黑" panose="020B0503020204020204" pitchFamily="34" charset="-122"/>
              </a:rPr>
              <a:t>10</a:t>
            </a:r>
            <a:r>
              <a:rPr lang="zh-CN" altLang="en-US" sz="1400" dirty="0">
                <a:latin typeface="微软雅黑" panose="020B0503020204020204" pitchFamily="34" charset="-122"/>
                <a:ea typeface="微软雅黑" panose="020B0503020204020204" pitchFamily="34" charset="-122"/>
              </a:rPr>
              <a:t>余项</a:t>
            </a:r>
            <a:r>
              <a:rPr lang="zh-CN" altLang="zh-CN" sz="1400" dirty="0">
                <a:latin typeface="微软雅黑" panose="020B0503020204020204" pitchFamily="34" charset="-122"/>
                <a:ea typeface="微软雅黑" panose="020B0503020204020204" pitchFamily="34" charset="-122"/>
                <a:cs typeface="Calibri" panose="020F0502020204030204" pitchFamily="34" charset="0"/>
              </a:rPr>
              <a:t>国家</a:t>
            </a:r>
            <a:r>
              <a:rPr lang="zh-CN" altLang="en-US" sz="1400" dirty="0">
                <a:latin typeface="微软雅黑" panose="020B0503020204020204" pitchFamily="34" charset="-122"/>
                <a:ea typeface="微软雅黑" panose="020B0503020204020204" pitchFamily="34" charset="-122"/>
                <a:cs typeface="Calibri" panose="020F0502020204030204" pitchFamily="34" charset="0"/>
              </a:rPr>
              <a:t>和</a:t>
            </a:r>
            <a:r>
              <a:rPr lang="zh-CN" altLang="zh-CN" sz="1400" dirty="0">
                <a:latin typeface="微软雅黑" panose="020B0503020204020204" pitchFamily="34" charset="-122"/>
                <a:ea typeface="微软雅黑" panose="020B0503020204020204" pitchFamily="34" charset="-122"/>
                <a:cs typeface="Calibri" panose="020F0502020204030204" pitchFamily="34" charset="0"/>
              </a:rPr>
              <a:t>省部级研发项目</a:t>
            </a:r>
            <a:r>
              <a:rPr lang="zh-CN" altLang="en-US" sz="1400" dirty="0">
                <a:latin typeface="微软雅黑" panose="020B0503020204020204" pitchFamily="34" charset="-122"/>
                <a:ea typeface="微软雅黑" panose="020B0503020204020204" pitchFamily="34" charset="-122"/>
                <a:cs typeface="Calibri" panose="020F0502020204030204" pitchFamily="34" charset="0"/>
              </a:rPr>
              <a:t>；</a:t>
            </a:r>
            <a:r>
              <a:rPr lang="zh-CN" altLang="zh-CN" sz="1400" dirty="0">
                <a:effectLst/>
                <a:latin typeface="微软雅黑" panose="020B0503020204020204" pitchFamily="34" charset="-122"/>
                <a:ea typeface="微软雅黑" panose="020B0503020204020204" pitchFamily="34" charset="-122"/>
                <a:cs typeface="Calibri" panose="020F0502020204030204" pitchFamily="34" charset="0"/>
              </a:rPr>
              <a:t>发表</a:t>
            </a:r>
            <a:r>
              <a:rPr lang="en-US" altLang="zh-CN" sz="1400" dirty="0">
                <a:effectLst/>
                <a:latin typeface="微软雅黑" panose="020B0503020204020204" pitchFamily="34" charset="-122"/>
                <a:ea typeface="微软雅黑" panose="020B0503020204020204" pitchFamily="34" charset="-122"/>
              </a:rPr>
              <a:t>SCI</a:t>
            </a:r>
            <a:r>
              <a:rPr lang="zh-CN" altLang="zh-CN" sz="1400" dirty="0">
                <a:effectLst/>
                <a:latin typeface="微软雅黑" panose="020B0503020204020204" pitchFamily="34" charset="-122"/>
                <a:ea typeface="微软雅黑" panose="020B0503020204020204" pitchFamily="34" charset="-122"/>
                <a:cs typeface="Calibri" panose="020F0502020204030204" pitchFamily="34" charset="0"/>
              </a:rPr>
              <a:t>论文</a:t>
            </a:r>
            <a:r>
              <a:rPr lang="en-US" altLang="zh-CN" sz="1400" dirty="0">
                <a:effectLst/>
                <a:latin typeface="微软雅黑" panose="020B0503020204020204" pitchFamily="34" charset="-122"/>
                <a:ea typeface="微软雅黑" panose="020B0503020204020204" pitchFamily="34" charset="-122"/>
              </a:rPr>
              <a:t>60</a:t>
            </a:r>
            <a:r>
              <a:rPr lang="zh-CN" altLang="zh-CN" sz="1400" dirty="0">
                <a:effectLst/>
                <a:latin typeface="微软雅黑" panose="020B0503020204020204" pitchFamily="34" charset="-122"/>
                <a:ea typeface="微软雅黑" panose="020B0503020204020204" pitchFamily="34" charset="-122"/>
                <a:cs typeface="Calibri" panose="020F0502020204030204" pitchFamily="34" charset="0"/>
              </a:rPr>
              <a:t>余篇</a:t>
            </a:r>
            <a:r>
              <a:rPr lang="zh-CN" altLang="en-US" sz="1400" dirty="0">
                <a:effectLst/>
                <a:latin typeface="微软雅黑" panose="020B0503020204020204" pitchFamily="34" charset="-122"/>
                <a:ea typeface="微软雅黑" panose="020B0503020204020204" pitchFamily="34" charset="-122"/>
                <a:cs typeface="Calibri" panose="020F0502020204030204" pitchFamily="34" charset="0"/>
              </a:rPr>
              <a:t>；</a:t>
            </a:r>
            <a:r>
              <a:rPr lang="zh-CN" altLang="zh-CN" sz="1400" dirty="0">
                <a:effectLst/>
                <a:latin typeface="微软雅黑" panose="020B0503020204020204" pitchFamily="34" charset="-122"/>
                <a:ea typeface="微软雅黑" panose="020B0503020204020204" pitchFamily="34" charset="-122"/>
                <a:cs typeface="Calibri" panose="020F0502020204030204" pitchFamily="34" charset="0"/>
              </a:rPr>
              <a:t>获授权发明专利多项</a:t>
            </a:r>
            <a:r>
              <a:rPr lang="zh-CN" altLang="en-US" sz="1400" dirty="0">
                <a:latin typeface="微软雅黑" panose="020B0503020204020204" pitchFamily="34" charset="-122"/>
                <a:ea typeface="微软雅黑" panose="020B0503020204020204" pitchFamily="34" charset="-122"/>
                <a:cs typeface="Calibri" panose="020F0502020204030204" pitchFamily="34" charset="0"/>
              </a:rPr>
              <a:t>；</a:t>
            </a:r>
            <a:r>
              <a:rPr lang="zh-CN" altLang="zh-CN" sz="1400" dirty="0">
                <a:latin typeface="微软雅黑" panose="020B0503020204020204" pitchFamily="34" charset="-122"/>
                <a:ea typeface="微软雅黑" panose="020B0503020204020204" pitchFamily="34" charset="-122"/>
                <a:cs typeface="Calibri" panose="020F0502020204030204" pitchFamily="34" charset="0"/>
              </a:rPr>
              <a:t>获</a:t>
            </a:r>
            <a:r>
              <a:rPr lang="zh-CN" altLang="en-US" sz="1400" dirty="0">
                <a:latin typeface="微软雅黑" panose="020B0503020204020204" pitchFamily="34" charset="-122"/>
                <a:ea typeface="微软雅黑" panose="020B0503020204020204" pitchFamily="34" charset="-122"/>
                <a:cs typeface="Calibri" panose="020F0502020204030204" pitchFamily="34" charset="0"/>
              </a:rPr>
              <a:t>四川</a:t>
            </a:r>
            <a:r>
              <a:rPr lang="zh-CN" altLang="zh-CN" sz="1400" dirty="0">
                <a:latin typeface="微软雅黑" panose="020B0503020204020204" pitchFamily="34" charset="-122"/>
                <a:ea typeface="微软雅黑" panose="020B0503020204020204" pitchFamily="34" charset="-122"/>
                <a:cs typeface="Calibri" panose="020F0502020204030204" pitchFamily="34" charset="0"/>
              </a:rPr>
              <a:t>省科技进步一等奖</a:t>
            </a:r>
            <a:r>
              <a:rPr lang="en-US" altLang="zh-CN" sz="1400" dirty="0">
                <a:latin typeface="微软雅黑" panose="020B0503020204020204" pitchFamily="34" charset="-122"/>
                <a:ea typeface="微软雅黑" panose="020B0503020204020204" pitchFamily="34" charset="-122"/>
              </a:rPr>
              <a:t>1</a:t>
            </a:r>
            <a:r>
              <a:rPr lang="zh-CN" altLang="zh-CN" sz="1400" dirty="0">
                <a:latin typeface="微软雅黑" panose="020B0503020204020204" pitchFamily="34" charset="-122"/>
                <a:ea typeface="微软雅黑" panose="020B0503020204020204" pitchFamily="34" charset="-122"/>
                <a:cs typeface="Calibri" panose="020F0502020204030204" pitchFamily="34" charset="0"/>
              </a:rPr>
              <a:t>项</a:t>
            </a:r>
            <a:r>
              <a:rPr lang="zh-CN" altLang="en-US" sz="1400" dirty="0">
                <a:latin typeface="微软雅黑" panose="020B0503020204020204" pitchFamily="34" charset="-122"/>
                <a:ea typeface="微软雅黑" panose="020B0503020204020204" pitchFamily="34" charset="-122"/>
                <a:cs typeface="Calibri" panose="020F0502020204030204" pitchFamily="34" charset="0"/>
              </a:rPr>
              <a:t>；部分研究成果实现临床转化</a:t>
            </a:r>
            <a:r>
              <a:rPr lang="zh-CN" altLang="en-US" sz="1400" dirty="0">
                <a:effectLst/>
                <a:latin typeface="微软雅黑" panose="020B0503020204020204" pitchFamily="34" charset="-122"/>
                <a:ea typeface="微软雅黑" panose="020B0503020204020204" pitchFamily="34" charset="-122"/>
                <a:cs typeface="Calibri" panose="020F0502020204030204" pitchFamily="34" charset="0"/>
              </a:rPr>
              <a:t>。</a:t>
            </a:r>
            <a:endParaRPr lang="en-US" altLang="zh-CN" sz="1400" dirty="0">
              <a:effectLst/>
              <a:latin typeface="微软雅黑" panose="020B0503020204020204" pitchFamily="34" charset="-122"/>
              <a:ea typeface="微软雅黑" panose="020B0503020204020204" pitchFamily="34" charset="-122"/>
              <a:cs typeface="Calibri" panose="020F0502020204030204" pitchFamily="34" charset="0"/>
            </a:endParaRPr>
          </a:p>
        </p:txBody>
      </p:sp>
      <p:pic>
        <p:nvPicPr>
          <p:cNvPr id="4" name="图片 3">
            <a:extLst>
              <a:ext uri="{FF2B5EF4-FFF2-40B4-BE49-F238E27FC236}">
                <a16:creationId xmlns:a16="http://schemas.microsoft.com/office/drawing/2014/main" id="{5B42BD19-74FC-B31C-3B0E-30C2B7809F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385" y="272270"/>
            <a:ext cx="2029349" cy="2880368"/>
          </a:xfrm>
          <a:prstGeom prst="rect">
            <a:avLst/>
          </a:prstGeom>
        </p:spPr>
      </p:pic>
      <p:sp>
        <p:nvSpPr>
          <p:cNvPr id="5" name="文本框 4">
            <a:extLst>
              <a:ext uri="{FF2B5EF4-FFF2-40B4-BE49-F238E27FC236}">
                <a16:creationId xmlns:a16="http://schemas.microsoft.com/office/drawing/2014/main" id="{D4D12A0D-F6C1-509D-1A95-5725C621B381}"/>
              </a:ext>
            </a:extLst>
          </p:cNvPr>
          <p:cNvSpPr txBox="1"/>
          <p:nvPr/>
        </p:nvSpPr>
        <p:spPr>
          <a:xfrm>
            <a:off x="-180528" y="3003798"/>
            <a:ext cx="3545173" cy="1670073"/>
          </a:xfrm>
          <a:prstGeom prst="rect">
            <a:avLst/>
          </a:prstGeom>
          <a:noFill/>
        </p:spPr>
        <p:txBody>
          <a:bodyPr wrap="square" rtlCol="0">
            <a:spAutoFit/>
          </a:bodyPr>
          <a:lstStyle/>
          <a:p>
            <a:pPr algn="ctr">
              <a:lnSpc>
                <a:spcPct val="150000"/>
              </a:lnSpc>
              <a:buClrTx/>
              <a:buSzTx/>
              <a:buFontTx/>
            </a:pPr>
            <a:endParaRPr lang="zh-CN" altLang="en-US" sz="1400" b="1" dirty="0">
              <a:solidFill>
                <a:schemeClr val="tx1"/>
              </a:solidFill>
              <a:latin typeface="微软雅黑" panose="020B0503020204020204" charset="-122"/>
              <a:ea typeface="微软雅黑" panose="020B0503020204020204" charset="-122"/>
              <a:sym typeface="+mn-ea"/>
            </a:endParaRPr>
          </a:p>
          <a:p>
            <a:pPr algn="ctr">
              <a:lnSpc>
                <a:spcPct val="150000"/>
              </a:lnSpc>
              <a:buClrTx/>
              <a:buSzTx/>
              <a:buFontTx/>
            </a:pPr>
            <a:r>
              <a:rPr lang="zh-CN" altLang="en-US" sz="1400" b="1" dirty="0">
                <a:latin typeface="微软雅黑" panose="020B0503020204020204" charset="-122"/>
                <a:ea typeface="微软雅黑" panose="020B0503020204020204" charset="-122"/>
                <a:sym typeface="+mn-ea"/>
              </a:rPr>
              <a:t>石毓君   </a:t>
            </a:r>
            <a:r>
              <a:rPr lang="zh-CN" altLang="en-US" sz="1400" b="1" dirty="0">
                <a:solidFill>
                  <a:schemeClr val="tx1"/>
                </a:solidFill>
                <a:latin typeface="微软雅黑" panose="020B0503020204020204" charset="-122"/>
                <a:ea typeface="微软雅黑" panose="020B0503020204020204" charset="-122"/>
                <a:sym typeface="+mn-ea"/>
              </a:rPr>
              <a:t>研究员  博士生导师</a:t>
            </a:r>
          </a:p>
          <a:p>
            <a:pPr algn="ctr">
              <a:lnSpc>
                <a:spcPct val="150000"/>
              </a:lnSpc>
              <a:buClrTx/>
              <a:buSzTx/>
              <a:buFontTx/>
            </a:pPr>
            <a:r>
              <a:rPr lang="zh-CN" altLang="en-US" sz="1400" b="1" dirty="0">
                <a:latin typeface="微软雅黑" panose="020B0503020204020204" charset="-122"/>
                <a:ea typeface="微软雅黑" panose="020B0503020204020204" charset="-122"/>
                <a:sym typeface="+mn-ea"/>
              </a:rPr>
              <a:t>四川大学华西医院</a:t>
            </a:r>
            <a:endParaRPr lang="en-US" altLang="zh-CN" sz="1400" b="1" dirty="0">
              <a:latin typeface="微软雅黑" panose="020B0503020204020204" charset="-122"/>
              <a:ea typeface="微软雅黑" panose="020B0503020204020204" charset="-122"/>
              <a:sym typeface="+mn-ea"/>
            </a:endParaRPr>
          </a:p>
          <a:p>
            <a:pPr algn="ctr">
              <a:lnSpc>
                <a:spcPct val="150000"/>
              </a:lnSpc>
              <a:buClrTx/>
              <a:buSzTx/>
              <a:buFontTx/>
            </a:pPr>
            <a:r>
              <a:rPr lang="zh-CN" altLang="en-US" sz="1400" b="1" dirty="0">
                <a:solidFill>
                  <a:schemeClr val="tx1"/>
                </a:solidFill>
                <a:latin typeface="微软雅黑" panose="020B0503020204020204" charset="-122"/>
                <a:ea typeface="微软雅黑" panose="020B0503020204020204" charset="-122"/>
                <a:sym typeface="+mn-ea"/>
              </a:rPr>
              <a:t>四川大学华西医院器官移植研究所</a:t>
            </a:r>
            <a:endParaRPr lang="en-US" altLang="zh-CN" sz="1400" b="1" dirty="0">
              <a:solidFill>
                <a:schemeClr val="tx1"/>
              </a:solidFill>
              <a:latin typeface="微软雅黑" panose="020B0503020204020204" charset="-122"/>
              <a:ea typeface="微软雅黑" panose="020B0503020204020204" charset="-122"/>
              <a:sym typeface="+mn-ea"/>
            </a:endParaRPr>
          </a:p>
          <a:p>
            <a:pPr algn="ctr">
              <a:lnSpc>
                <a:spcPct val="150000"/>
              </a:lnSpc>
              <a:buClrTx/>
              <a:buSzTx/>
              <a:buFontTx/>
            </a:pPr>
            <a:r>
              <a:rPr lang="zh-CN" altLang="en-US" sz="1400" b="1" dirty="0">
                <a:solidFill>
                  <a:schemeClr val="tx1"/>
                </a:solidFill>
                <a:latin typeface="微软雅黑" panose="020B0503020204020204" charset="-122"/>
                <a:ea typeface="微软雅黑" panose="020B0503020204020204" charset="-122"/>
                <a:sym typeface="+mn-ea"/>
              </a:rPr>
              <a:t>副所长</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B0603E5-B101-F089-E83E-A911A34748CE}"/>
              </a:ext>
            </a:extLst>
          </p:cNvPr>
          <p:cNvSpPr txBox="1"/>
          <p:nvPr/>
        </p:nvSpPr>
        <p:spPr>
          <a:xfrm>
            <a:off x="2569767" y="123478"/>
            <a:ext cx="6336704" cy="4901726"/>
          </a:xfrm>
          <a:prstGeom prst="rect">
            <a:avLst/>
          </a:prstGeom>
          <a:noFill/>
          <a:ln>
            <a:solidFill>
              <a:schemeClr val="accent3">
                <a:lumMod val="75000"/>
              </a:schemeClr>
            </a:solidFill>
          </a:ln>
        </p:spPr>
        <p:txBody>
          <a:bodyPr wrap="square" rtlCol="0">
            <a:spAutoFit/>
          </a:bodyPr>
          <a:lstStyle/>
          <a:p>
            <a:pPr>
              <a:lnSpc>
                <a:spcPct val="150000"/>
              </a:lnSpc>
              <a:buClr>
                <a:srgbClr val="C00000"/>
              </a:buClr>
            </a:pPr>
            <a:r>
              <a:rPr lang="zh-CN" altLang="zh-CN" sz="1400" kern="100" dirty="0">
                <a:effectLst/>
                <a:latin typeface="Microsoft YaHei" panose="020B0503020204020204" pitchFamily="34" charset="-122"/>
                <a:ea typeface="Microsoft YaHei" panose="020B0503020204020204" pitchFamily="34" charset="-122"/>
              </a:rPr>
              <a:t>眼病防治全国重点实验室副主任，国家杰出青年基金获得者，教育部“长江学者”奖励计划入选者，国家重点研发项目首席科学家，兼任中国药理学会肿瘤药理学专业委员会候任主任委员，中国老年学和老年医学学会老年病学分会副会长，中国老年学和老年医学学会肿瘤基础及转化研究专委会主任委员，广东省药理学会肿瘤药理学专业委员会主任委员，广东省病理生理学会肿瘤专业委员会主任委员。曾在美国德克萨斯大学</a:t>
            </a:r>
            <a:r>
              <a:rPr lang="en-US" altLang="zh-CN" sz="1400" kern="100" dirty="0">
                <a:effectLst/>
                <a:latin typeface="Microsoft YaHei" panose="020B0503020204020204" pitchFamily="34" charset="-122"/>
                <a:ea typeface="Microsoft YaHei" panose="020B0503020204020204" pitchFamily="34" charset="-122"/>
              </a:rPr>
              <a:t>MD Anderson Cancer Center</a:t>
            </a:r>
            <a:r>
              <a:rPr lang="zh-CN" altLang="zh-CN" sz="1400" kern="100" dirty="0">
                <a:effectLst/>
                <a:latin typeface="Microsoft YaHei" panose="020B0503020204020204" pitchFamily="34" charset="-122"/>
                <a:ea typeface="Microsoft YaHei" panose="020B0503020204020204" pitchFamily="34" charset="-122"/>
              </a:rPr>
              <a:t>工作</a:t>
            </a:r>
            <a:r>
              <a:rPr lang="en-US" altLang="zh-CN" sz="1400" kern="100" dirty="0">
                <a:effectLst/>
                <a:latin typeface="Microsoft YaHei" panose="020B0503020204020204" pitchFamily="34" charset="-122"/>
                <a:ea typeface="Microsoft YaHei" panose="020B0503020204020204" pitchFamily="34" charset="-122"/>
              </a:rPr>
              <a:t>8</a:t>
            </a:r>
            <a:r>
              <a:rPr lang="zh-CN" altLang="zh-CN" sz="1400" kern="100" dirty="0">
                <a:effectLst/>
                <a:latin typeface="Microsoft YaHei" panose="020B0503020204020204" pitchFamily="34" charset="-122"/>
                <a:ea typeface="Microsoft YaHei" panose="020B0503020204020204" pitchFamily="34" charset="-122"/>
              </a:rPr>
              <a:t>年（</a:t>
            </a:r>
            <a:r>
              <a:rPr lang="en-US" altLang="zh-CN" sz="1400" kern="100" dirty="0">
                <a:effectLst/>
                <a:latin typeface="Microsoft YaHei" panose="020B0503020204020204" pitchFamily="34" charset="-122"/>
                <a:ea typeface="Microsoft YaHei" panose="020B0503020204020204" pitchFamily="34" charset="-122"/>
              </a:rPr>
              <a:t>1998-2006</a:t>
            </a:r>
            <a:r>
              <a:rPr lang="zh-CN" altLang="zh-CN" sz="1400" kern="100" dirty="0">
                <a:effectLst/>
                <a:latin typeface="Microsoft YaHei" panose="020B0503020204020204" pitchFamily="34" charset="-122"/>
                <a:ea typeface="Microsoft YaHei" panose="020B0503020204020204" pitchFamily="34" charset="-122"/>
              </a:rPr>
              <a:t>），</a:t>
            </a:r>
            <a:r>
              <a:rPr lang="en-US" altLang="zh-CN" sz="1400" kern="100" dirty="0">
                <a:effectLst/>
                <a:latin typeface="Microsoft YaHei" panose="020B0503020204020204" pitchFamily="34" charset="-122"/>
                <a:ea typeface="Microsoft YaHei" panose="020B0503020204020204" pitchFamily="34" charset="-122"/>
              </a:rPr>
              <a:t> 2006</a:t>
            </a:r>
            <a:r>
              <a:rPr lang="zh-CN" altLang="zh-CN" sz="1400" kern="100" dirty="0">
                <a:effectLst/>
                <a:latin typeface="Microsoft YaHei" panose="020B0503020204020204" pitchFamily="34" charset="-122"/>
                <a:ea typeface="Microsoft YaHei" panose="020B0503020204020204" pitchFamily="34" charset="-122"/>
              </a:rPr>
              <a:t>年中山大学</a:t>
            </a:r>
            <a:r>
              <a:rPr lang="en-US" altLang="zh-CN" sz="1400" kern="100" dirty="0">
                <a:effectLst/>
                <a:latin typeface="Microsoft YaHei" panose="020B0503020204020204" pitchFamily="34" charset="-122"/>
                <a:ea typeface="Microsoft YaHei" panose="020B0503020204020204" pitchFamily="34" charset="-122"/>
              </a:rPr>
              <a:t>“</a:t>
            </a:r>
            <a:r>
              <a:rPr lang="zh-CN" altLang="zh-CN" sz="1400" kern="100" dirty="0">
                <a:effectLst/>
                <a:latin typeface="Microsoft YaHei" panose="020B0503020204020204" pitchFamily="34" charset="-122"/>
                <a:ea typeface="Microsoft YaHei" panose="020B0503020204020204" pitchFamily="34" charset="-122"/>
              </a:rPr>
              <a:t>百人计划</a:t>
            </a:r>
            <a:r>
              <a:rPr lang="en-US" altLang="zh-CN" sz="1400" kern="100" dirty="0">
                <a:effectLst/>
                <a:latin typeface="Microsoft YaHei" panose="020B0503020204020204" pitchFamily="34" charset="-122"/>
                <a:ea typeface="Microsoft YaHei" panose="020B0503020204020204" pitchFamily="34" charset="-122"/>
              </a:rPr>
              <a:t>”</a:t>
            </a:r>
            <a:r>
              <a:rPr lang="zh-CN" altLang="zh-CN" sz="1400" kern="100" dirty="0">
                <a:effectLst/>
                <a:latin typeface="Microsoft YaHei" panose="020B0503020204020204" pitchFamily="34" charset="-122"/>
                <a:ea typeface="Microsoft YaHei" panose="020B0503020204020204" pitchFamily="34" charset="-122"/>
              </a:rPr>
              <a:t>引进回国任中山医学院教授</a:t>
            </a:r>
            <a:r>
              <a:rPr lang="zh-CN" altLang="en-US" sz="1400" kern="100" dirty="0">
                <a:effectLst/>
                <a:latin typeface="Microsoft YaHei" panose="020B0503020204020204" pitchFamily="34" charset="-122"/>
                <a:ea typeface="Microsoft YaHei" panose="020B0503020204020204" pitchFamily="34" charset="-122"/>
              </a:rPr>
              <a:t>，</a:t>
            </a:r>
            <a:r>
              <a:rPr lang="en-US" altLang="zh-CN" sz="1400" kern="100" dirty="0">
                <a:effectLst/>
                <a:latin typeface="Microsoft YaHei" panose="020B0503020204020204" pitchFamily="34" charset="-122"/>
                <a:ea typeface="Microsoft YaHei" panose="020B0503020204020204" pitchFamily="34" charset="-122"/>
              </a:rPr>
              <a:t>2010</a:t>
            </a:r>
            <a:r>
              <a:rPr lang="zh-CN" altLang="zh-CN" sz="1400" kern="100" dirty="0">
                <a:effectLst/>
                <a:latin typeface="Microsoft YaHei" panose="020B0503020204020204" pitchFamily="34" charset="-122"/>
                <a:ea typeface="Microsoft YaHei" panose="020B0503020204020204" pitchFamily="34" charset="-122"/>
              </a:rPr>
              <a:t>年入选国家杰出青年基金获得者。主要从事肿瘤药理学研究，研究兴趣集中在肿瘤靶向药物耐药和肿瘤干细胞干性的调控机制及其药物干预，发现</a:t>
            </a:r>
            <a:r>
              <a:rPr lang="en-US" altLang="zh-CN" sz="1400" kern="100" dirty="0">
                <a:effectLst/>
                <a:latin typeface="Microsoft YaHei" panose="020B0503020204020204" pitchFamily="34" charset="-122"/>
                <a:ea typeface="Microsoft YaHei" panose="020B0503020204020204" pitchFamily="34" charset="-122"/>
              </a:rPr>
              <a:t>PRMT7</a:t>
            </a:r>
            <a:r>
              <a:rPr lang="zh-CN" altLang="zh-CN" sz="1400" kern="100" dirty="0">
                <a:effectLst/>
                <a:latin typeface="Microsoft YaHei" panose="020B0503020204020204" pitchFamily="34" charset="-122"/>
                <a:ea typeface="Microsoft YaHei" panose="020B0503020204020204" pitchFamily="34" charset="-122"/>
              </a:rPr>
              <a:t>、</a:t>
            </a:r>
            <a:r>
              <a:rPr lang="en-US" altLang="zh-CN" sz="1400" kern="100" dirty="0">
                <a:effectLst/>
                <a:latin typeface="Microsoft YaHei" panose="020B0503020204020204" pitchFamily="34" charset="-122"/>
                <a:ea typeface="Microsoft YaHei" panose="020B0503020204020204" pitchFamily="34" charset="-122"/>
              </a:rPr>
              <a:t>EZH2</a:t>
            </a:r>
            <a:r>
              <a:rPr lang="zh-CN" altLang="zh-CN" sz="1400" kern="100" dirty="0">
                <a:effectLst/>
                <a:latin typeface="Microsoft YaHei" panose="020B0503020204020204" pitchFamily="34" charset="-122"/>
                <a:ea typeface="Microsoft YaHei" panose="020B0503020204020204" pitchFamily="34" charset="-122"/>
              </a:rPr>
              <a:t>、</a:t>
            </a:r>
            <a:r>
              <a:rPr lang="en-US" altLang="zh-CN" sz="1400" kern="100" dirty="0">
                <a:effectLst/>
                <a:latin typeface="Microsoft YaHei" panose="020B0503020204020204" pitchFamily="34" charset="-122"/>
                <a:ea typeface="Microsoft YaHei" panose="020B0503020204020204" pitchFamily="34" charset="-122"/>
              </a:rPr>
              <a:t>NAE1</a:t>
            </a:r>
            <a:r>
              <a:rPr lang="zh-CN" altLang="zh-CN" sz="1400" kern="100" dirty="0">
                <a:effectLst/>
                <a:latin typeface="Microsoft YaHei" panose="020B0503020204020204" pitchFamily="34" charset="-122"/>
                <a:ea typeface="Microsoft YaHei" panose="020B0503020204020204" pitchFamily="34" charset="-122"/>
              </a:rPr>
              <a:t>等肿瘤干细胞的新可成药性靶点，发现克服伊马替尼耐药的系列先导化合物</a:t>
            </a:r>
            <a:r>
              <a:rPr lang="en-US" altLang="zh-CN" sz="1400" kern="100" dirty="0">
                <a:effectLst/>
                <a:latin typeface="Microsoft YaHei" panose="020B0503020204020204" pitchFamily="34" charset="-122"/>
                <a:ea typeface="Microsoft YaHei" panose="020B0503020204020204" pitchFamily="34" charset="-122"/>
              </a:rPr>
              <a:t>,</a:t>
            </a:r>
            <a:r>
              <a:rPr lang="zh-CN" altLang="zh-CN" sz="1400" kern="100" dirty="0">
                <a:effectLst/>
                <a:latin typeface="Microsoft YaHei" panose="020B0503020204020204" pitchFamily="34" charset="-122"/>
                <a:ea typeface="Microsoft YaHei" panose="020B0503020204020204" pitchFamily="34" charset="-122"/>
              </a:rPr>
              <a:t>在</a:t>
            </a:r>
            <a:r>
              <a:rPr lang="en-US" altLang="zh-CN" sz="1400" i="1" kern="100" dirty="0">
                <a:effectLst/>
                <a:latin typeface="Microsoft YaHei" panose="020B0503020204020204" pitchFamily="34" charset="-122"/>
                <a:ea typeface="Microsoft YaHei" panose="020B0503020204020204" pitchFamily="34" charset="-122"/>
              </a:rPr>
              <a:t>Cell Metabolism, Science Translational Medicine</a:t>
            </a:r>
            <a:r>
              <a:rPr lang="zh-CN" altLang="zh-CN" sz="1400" kern="100" dirty="0">
                <a:effectLst/>
                <a:latin typeface="Microsoft YaHei" panose="020B0503020204020204" pitchFamily="34" charset="-122"/>
                <a:ea typeface="Microsoft YaHei" panose="020B0503020204020204" pitchFamily="34" charset="-122"/>
              </a:rPr>
              <a:t>（入选</a:t>
            </a:r>
            <a:r>
              <a:rPr lang="en-US" altLang="zh-CN" sz="1400" kern="100" dirty="0">
                <a:effectLst/>
                <a:latin typeface="Microsoft YaHei" panose="020B0503020204020204" pitchFamily="34" charset="-122"/>
                <a:ea typeface="Microsoft YaHei" panose="020B0503020204020204" pitchFamily="34" charset="-122"/>
              </a:rPr>
              <a:t>2021</a:t>
            </a:r>
            <a:r>
              <a:rPr lang="zh-CN" altLang="zh-CN" sz="1400" kern="100" dirty="0">
                <a:effectLst/>
                <a:latin typeface="Microsoft YaHei" panose="020B0503020204020204" pitchFamily="34" charset="-122"/>
                <a:ea typeface="Microsoft YaHei" panose="020B0503020204020204" pitchFamily="34" charset="-122"/>
              </a:rPr>
              <a:t>年中国血液学十大研究进展）</a:t>
            </a:r>
            <a:r>
              <a:rPr lang="en-US" altLang="zh-CN" sz="1400" i="1" kern="100" dirty="0">
                <a:effectLst/>
                <a:latin typeface="Microsoft YaHei" panose="020B0503020204020204" pitchFamily="34" charset="-122"/>
                <a:ea typeface="Microsoft YaHei" panose="020B0503020204020204" pitchFamily="34" charset="-122"/>
              </a:rPr>
              <a:t>, J Clin Invest, Signal </a:t>
            </a:r>
            <a:r>
              <a:rPr lang="en-US" altLang="zh-CN" sz="1400" i="1" kern="100" dirty="0" err="1">
                <a:effectLst/>
                <a:latin typeface="Microsoft YaHei" panose="020B0503020204020204" pitchFamily="34" charset="-122"/>
                <a:ea typeface="Microsoft YaHei" panose="020B0503020204020204" pitchFamily="34" charset="-122"/>
              </a:rPr>
              <a:t>Transduct</a:t>
            </a:r>
            <a:r>
              <a:rPr lang="en-US" altLang="zh-CN" sz="1400" i="1" kern="100" dirty="0">
                <a:effectLst/>
                <a:latin typeface="Microsoft YaHei" panose="020B0503020204020204" pitchFamily="34" charset="-122"/>
                <a:ea typeface="Microsoft YaHei" panose="020B0503020204020204" pitchFamily="34" charset="-122"/>
              </a:rPr>
              <a:t> Target </a:t>
            </a:r>
            <a:r>
              <a:rPr lang="en-US" altLang="zh-CN" sz="1400" i="1" kern="100" dirty="0" err="1">
                <a:effectLst/>
                <a:latin typeface="Microsoft YaHei" panose="020B0503020204020204" pitchFamily="34" charset="-122"/>
                <a:ea typeface="Microsoft YaHei" panose="020B0503020204020204" pitchFamily="34" charset="-122"/>
              </a:rPr>
              <a:t>Ther</a:t>
            </a:r>
            <a:r>
              <a:rPr lang="en-US" altLang="zh-CN" sz="1400" i="1" kern="100" dirty="0">
                <a:effectLst/>
                <a:latin typeface="Microsoft YaHei" panose="020B0503020204020204" pitchFamily="34" charset="-122"/>
                <a:ea typeface="Microsoft YaHei" panose="020B0503020204020204" pitchFamily="34" charset="-122"/>
              </a:rPr>
              <a:t>, Cancer Res</a:t>
            </a:r>
            <a:r>
              <a:rPr lang="zh-CN" altLang="zh-CN" sz="1400" i="1" kern="100" dirty="0">
                <a:effectLst/>
                <a:latin typeface="Microsoft YaHei" panose="020B0503020204020204" pitchFamily="34" charset="-122"/>
                <a:ea typeface="Microsoft YaHei" panose="020B0503020204020204" pitchFamily="34" charset="-122"/>
              </a:rPr>
              <a:t>及</a:t>
            </a:r>
            <a:r>
              <a:rPr lang="en-US" altLang="zh-CN" sz="1400" i="1" kern="100" dirty="0">
                <a:effectLst/>
                <a:latin typeface="Microsoft YaHei" panose="020B0503020204020204" pitchFamily="34" charset="-122"/>
                <a:ea typeface="Microsoft YaHei" panose="020B0503020204020204" pitchFamily="34" charset="-122"/>
              </a:rPr>
              <a:t> Clin Cancer Res</a:t>
            </a:r>
            <a:r>
              <a:rPr lang="zh-CN" altLang="zh-CN" sz="1400" kern="100" dirty="0">
                <a:effectLst/>
                <a:latin typeface="Microsoft YaHei" panose="020B0503020204020204" pitchFamily="34" charset="-122"/>
                <a:ea typeface="Microsoft YaHei" panose="020B0503020204020204" pitchFamily="34" charset="-122"/>
              </a:rPr>
              <a:t>等专业杂志上发表</a:t>
            </a:r>
            <a:r>
              <a:rPr lang="en-US" altLang="zh-CN" sz="1400" kern="100" dirty="0">
                <a:effectLst/>
                <a:latin typeface="Microsoft YaHei" panose="020B0503020204020204" pitchFamily="34" charset="-122"/>
                <a:ea typeface="Microsoft YaHei" panose="020B0503020204020204" pitchFamily="34" charset="-122"/>
              </a:rPr>
              <a:t>SCI</a:t>
            </a:r>
            <a:r>
              <a:rPr lang="zh-CN" altLang="zh-CN" sz="1400" kern="100" dirty="0">
                <a:effectLst/>
                <a:latin typeface="Microsoft YaHei" panose="020B0503020204020204" pitchFamily="34" charset="-122"/>
                <a:ea typeface="Microsoft YaHei" panose="020B0503020204020204" pitchFamily="34" charset="-122"/>
              </a:rPr>
              <a:t>论文</a:t>
            </a:r>
            <a:r>
              <a:rPr lang="en-US" altLang="zh-CN" sz="1400" kern="100" dirty="0">
                <a:effectLst/>
                <a:latin typeface="Microsoft YaHei" panose="020B0503020204020204" pitchFamily="34" charset="-122"/>
                <a:ea typeface="Microsoft YaHei" panose="020B0503020204020204" pitchFamily="34" charset="-122"/>
              </a:rPr>
              <a:t>92</a:t>
            </a:r>
            <a:r>
              <a:rPr lang="zh-CN" altLang="zh-CN" sz="1400" kern="100" dirty="0">
                <a:effectLst/>
                <a:latin typeface="Microsoft YaHei" panose="020B0503020204020204" pitchFamily="34" charset="-122"/>
                <a:ea typeface="Microsoft YaHei" panose="020B0503020204020204" pitchFamily="34" charset="-122"/>
              </a:rPr>
              <a:t>篇，主持承担包括国家自然科学基金重点项目、国家重点研发项目（首席科学家）在内的多项国家级课题。担任《</a:t>
            </a:r>
            <a:r>
              <a:rPr lang="en-US" altLang="zh-CN" sz="1400" kern="100" dirty="0">
                <a:effectLst/>
                <a:latin typeface="Microsoft YaHei" panose="020B0503020204020204" pitchFamily="34" charset="-122"/>
                <a:ea typeface="Microsoft YaHei" panose="020B0503020204020204" pitchFamily="34" charset="-122"/>
              </a:rPr>
              <a:t>Molecular Cancer</a:t>
            </a:r>
            <a:r>
              <a:rPr lang="zh-CN" altLang="zh-CN" sz="1400" kern="100" dirty="0">
                <a:effectLst/>
                <a:latin typeface="Microsoft YaHei" panose="020B0503020204020204" pitchFamily="34" charset="-122"/>
                <a:ea typeface="Microsoft YaHei" panose="020B0503020204020204" pitchFamily="34" charset="-122"/>
              </a:rPr>
              <a:t>》</a:t>
            </a:r>
            <a:r>
              <a:rPr lang="en-US" altLang="zh-CN" sz="1400" kern="100" dirty="0">
                <a:effectLst/>
                <a:latin typeface="Microsoft YaHei" panose="020B0503020204020204" pitchFamily="34" charset="-122"/>
                <a:ea typeface="Microsoft YaHei" panose="020B0503020204020204" pitchFamily="34" charset="-122"/>
              </a:rPr>
              <a:t>(IF 37.3) </a:t>
            </a:r>
            <a:r>
              <a:rPr lang="zh-CN" altLang="zh-CN" sz="1400" kern="100" dirty="0">
                <a:effectLst/>
                <a:latin typeface="Microsoft YaHei" panose="020B0503020204020204" pitchFamily="34" charset="-122"/>
                <a:ea typeface="Microsoft YaHei" panose="020B0503020204020204" pitchFamily="34" charset="-122"/>
              </a:rPr>
              <a:t>副主编。</a:t>
            </a:r>
          </a:p>
        </p:txBody>
      </p:sp>
      <p:sp>
        <p:nvSpPr>
          <p:cNvPr id="5" name="文本框 4">
            <a:extLst>
              <a:ext uri="{FF2B5EF4-FFF2-40B4-BE49-F238E27FC236}">
                <a16:creationId xmlns:a16="http://schemas.microsoft.com/office/drawing/2014/main" id="{3949B409-2AEC-EDFB-DCDA-EA9F7E780F3B}"/>
              </a:ext>
            </a:extLst>
          </p:cNvPr>
          <p:cNvSpPr txBox="1"/>
          <p:nvPr/>
        </p:nvSpPr>
        <p:spPr>
          <a:xfrm>
            <a:off x="272845" y="2596958"/>
            <a:ext cx="2174231" cy="1346907"/>
          </a:xfrm>
          <a:prstGeom prst="rect">
            <a:avLst/>
          </a:prstGeom>
          <a:noFill/>
        </p:spPr>
        <p:txBody>
          <a:bodyPr wrap="square" rtlCol="0">
            <a:spAutoFit/>
          </a:bodyPr>
          <a:lstStyle/>
          <a:p>
            <a:pPr algn="ctr">
              <a:lnSpc>
                <a:spcPct val="150000"/>
              </a:lnSpc>
              <a:buClrTx/>
              <a:buSzTx/>
              <a:buFontTx/>
            </a:pPr>
            <a:endParaRPr lang="zh-CN" altLang="en-US" sz="1400" b="1" dirty="0">
              <a:latin typeface="微软雅黑" panose="020B0503020204020204" charset="-122"/>
              <a:ea typeface="微软雅黑" panose="020B0503020204020204" charset="-122"/>
              <a:sym typeface="+mn-ea"/>
            </a:endParaRPr>
          </a:p>
          <a:p>
            <a:pPr algn="ctr">
              <a:lnSpc>
                <a:spcPct val="150000"/>
              </a:lnSpc>
              <a:buClrTx/>
              <a:buSzTx/>
              <a:buFontTx/>
            </a:pPr>
            <a:r>
              <a:rPr lang="zh-CN" altLang="en-US" sz="1400" b="1" dirty="0">
                <a:latin typeface="微软雅黑" panose="020B0503020204020204" charset="-122"/>
                <a:ea typeface="微软雅黑" panose="020B0503020204020204" charset="-122"/>
                <a:sym typeface="+mn-ea"/>
              </a:rPr>
              <a:t>潘景轩  教授</a:t>
            </a:r>
            <a:endParaRPr lang="en-US" altLang="zh-CN" sz="1400" b="1" dirty="0">
              <a:latin typeface="微软雅黑" panose="020B0503020204020204" charset="-122"/>
              <a:ea typeface="微软雅黑" panose="020B0503020204020204" charset="-122"/>
              <a:sym typeface="+mn-ea"/>
            </a:endParaRPr>
          </a:p>
          <a:p>
            <a:pPr algn="ctr">
              <a:lnSpc>
                <a:spcPct val="150000"/>
              </a:lnSpc>
              <a:buClrTx/>
              <a:buSzTx/>
              <a:buFontTx/>
            </a:pPr>
            <a:r>
              <a:rPr lang="zh-CN" altLang="en-US" sz="1400" b="1" dirty="0">
                <a:latin typeface="微软雅黑" panose="020B0503020204020204" charset="-122"/>
                <a:ea typeface="微软雅黑" panose="020B0503020204020204" charset="-122"/>
                <a:sym typeface="+mn-ea"/>
              </a:rPr>
              <a:t>  博士生导师</a:t>
            </a:r>
          </a:p>
          <a:p>
            <a:pPr algn="ctr">
              <a:lnSpc>
                <a:spcPct val="150000"/>
              </a:lnSpc>
              <a:defRPr/>
            </a:pPr>
            <a:r>
              <a:rPr lang="zh-CN" altLang="zh-CN" sz="1400" b="1" dirty="0">
                <a:latin typeface="微软雅黑" panose="020B0503020204020204" pitchFamily="34" charset="-122"/>
                <a:ea typeface="微软雅黑" panose="020B0503020204020204" pitchFamily="34" charset="-122"/>
              </a:rPr>
              <a:t>中</a:t>
            </a:r>
            <a:r>
              <a:rPr lang="zh-CN" altLang="zh-CN" sz="1400" b="1" dirty="0">
                <a:latin typeface="微软雅黑" panose="020B0503020204020204" pitchFamily="34" charset="-122"/>
                <a:ea typeface="微软雅黑" panose="020B0503020204020204" pitchFamily="34" charset="-122"/>
                <a:cs typeface="宋体" panose="02010600030101010101" pitchFamily="2" charset="-122"/>
              </a:rPr>
              <a:t>山大学</a:t>
            </a:r>
            <a:endParaRPr lang="en-US" altLang="zh-CN" sz="1400" b="1" dirty="0">
              <a:latin typeface="微软雅黑" panose="020B0503020204020204" pitchFamily="34" charset="-122"/>
              <a:ea typeface="微软雅黑" panose="020B0503020204020204" pitchFamily="34" charset="-122"/>
              <a:cs typeface="宋体" panose="02010600030101010101" pitchFamily="2" charset="-122"/>
            </a:endParaRPr>
          </a:p>
        </p:txBody>
      </p:sp>
      <p:pic>
        <p:nvPicPr>
          <p:cNvPr id="3" name="图片 2">
            <a:extLst>
              <a:ext uri="{FF2B5EF4-FFF2-40B4-BE49-F238E27FC236}">
                <a16:creationId xmlns:a16="http://schemas.microsoft.com/office/drawing/2014/main" id="{9BB99EEF-F826-5235-B99F-9C2F8BF8BEE7}"/>
              </a:ext>
            </a:extLst>
          </p:cNvPr>
          <p:cNvPicPr/>
          <p:nvPr/>
        </p:nvPicPr>
        <p:blipFill>
          <a:blip r:embed="rId2" cstate="print"/>
          <a:srcRect b="5555"/>
          <a:stretch>
            <a:fillRect/>
          </a:stretch>
        </p:blipFill>
        <p:spPr bwMode="auto">
          <a:xfrm>
            <a:off x="539552" y="446157"/>
            <a:ext cx="1728192" cy="2341617"/>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F01A673-0059-9F46-1D0F-DD865EFCA94D}"/>
              </a:ext>
            </a:extLst>
          </p:cNvPr>
          <p:cNvSpPr txBox="1"/>
          <p:nvPr/>
        </p:nvSpPr>
        <p:spPr>
          <a:xfrm>
            <a:off x="2987824" y="466485"/>
            <a:ext cx="5661306" cy="3372783"/>
          </a:xfrm>
          <a:prstGeom prst="rect">
            <a:avLst/>
          </a:prstGeom>
          <a:noFill/>
          <a:ln>
            <a:solidFill>
              <a:schemeClr val="accent3">
                <a:lumMod val="75000"/>
              </a:schemeClr>
            </a:solidFill>
          </a:ln>
        </p:spPr>
        <p:txBody>
          <a:bodyPr wrap="square" rtlCol="0">
            <a:spAutoFit/>
          </a:bodyPr>
          <a:lstStyle/>
          <a:p>
            <a:pPr>
              <a:lnSpc>
                <a:spcPct val="150000"/>
              </a:lnSpc>
            </a:pPr>
            <a:r>
              <a:rPr kumimoji="1" lang="zh-CN" altLang="en-US" sz="1600" dirty="0">
                <a:latin typeface="Microsoft YaHei" panose="020B0503020204020204" pitchFamily="34" charset="-122"/>
                <a:ea typeface="Microsoft YaHei" panose="020B0503020204020204" pitchFamily="34" charset="-122"/>
              </a:rPr>
              <a:t>国家自然科学基金“杰出青年”和“优秀青年”基金获得者大连医科大学肿瘤干细胞研究院副院长。</a:t>
            </a:r>
            <a:endParaRPr kumimoji="1" lang="en-US" altLang="zh-CN" sz="1600" dirty="0">
              <a:latin typeface="Microsoft YaHei" panose="020B0503020204020204" pitchFamily="34" charset="-122"/>
              <a:ea typeface="Microsoft YaHei" panose="020B0503020204020204" pitchFamily="34" charset="-122"/>
            </a:endParaRPr>
          </a:p>
          <a:p>
            <a:pPr>
              <a:lnSpc>
                <a:spcPct val="150000"/>
              </a:lnSpc>
            </a:pPr>
            <a:r>
              <a:rPr kumimoji="1" lang="en-US" altLang="zh-CN" sz="1600" dirty="0">
                <a:latin typeface="Microsoft YaHei" panose="020B0503020204020204" pitchFamily="34" charset="-122"/>
                <a:ea typeface="Microsoft YaHei" panose="020B0503020204020204" pitchFamily="34" charset="-122"/>
              </a:rPr>
              <a:t>2001</a:t>
            </a:r>
            <a:r>
              <a:rPr kumimoji="1" lang="zh-CN" altLang="en-US" sz="1600" dirty="0">
                <a:latin typeface="Microsoft YaHei" panose="020B0503020204020204" pitchFamily="34" charset="-122"/>
                <a:ea typeface="Microsoft YaHei" panose="020B0503020204020204" pitchFamily="34" charset="-122"/>
              </a:rPr>
              <a:t>年获得南开大学学士学位，</a:t>
            </a:r>
            <a:r>
              <a:rPr kumimoji="1" lang="en-US" altLang="zh-CN" sz="1600" dirty="0">
                <a:latin typeface="Microsoft YaHei" panose="020B0503020204020204" pitchFamily="34" charset="-122"/>
                <a:ea typeface="Microsoft YaHei" panose="020B0503020204020204" pitchFamily="34" charset="-122"/>
              </a:rPr>
              <a:t>2006</a:t>
            </a:r>
            <a:r>
              <a:rPr kumimoji="1" lang="zh-CN" altLang="en-US" sz="1600" dirty="0">
                <a:latin typeface="Microsoft YaHei" panose="020B0503020204020204" pitchFamily="34" charset="-122"/>
                <a:ea typeface="Microsoft YaHei" panose="020B0503020204020204" pitchFamily="34" charset="-122"/>
              </a:rPr>
              <a:t>年获得中科院遗传与发育生物学研究所博士学位，其后在美国</a:t>
            </a:r>
            <a:r>
              <a:rPr kumimoji="1" lang="en" altLang="zh-CN" sz="1600" dirty="0">
                <a:latin typeface="Microsoft YaHei" panose="020B0503020204020204" pitchFamily="34" charset="-122"/>
                <a:ea typeface="Microsoft YaHei" panose="020B0503020204020204" pitchFamily="34" charset="-122"/>
              </a:rPr>
              <a:t>Scripps</a:t>
            </a:r>
            <a:r>
              <a:rPr kumimoji="1" lang="zh-CN" altLang="en-US" sz="1600" dirty="0">
                <a:latin typeface="Microsoft YaHei" panose="020B0503020204020204" pitchFamily="34" charset="-122"/>
                <a:ea typeface="Microsoft YaHei" panose="020B0503020204020204" pitchFamily="34" charset="-122"/>
              </a:rPr>
              <a:t>研究所（</a:t>
            </a:r>
            <a:r>
              <a:rPr kumimoji="1" lang="en" altLang="zh-CN" sz="1600" dirty="0">
                <a:latin typeface="Microsoft YaHei" panose="020B0503020204020204" pitchFamily="34" charset="-122"/>
                <a:ea typeface="Microsoft YaHei" panose="020B0503020204020204" pitchFamily="34" charset="-122"/>
              </a:rPr>
              <a:t>TSRI</a:t>
            </a:r>
            <a:r>
              <a:rPr kumimoji="1" lang="zh-CN" altLang="en" sz="1600" dirty="0">
                <a:latin typeface="Microsoft YaHei" panose="020B0503020204020204" pitchFamily="34" charset="-122"/>
                <a:ea typeface="Microsoft YaHei" panose="020B0503020204020204" pitchFamily="34" charset="-122"/>
              </a:rPr>
              <a:t>）</a:t>
            </a:r>
            <a:r>
              <a:rPr kumimoji="1" lang="zh-CN" altLang="en-US" sz="1600" dirty="0">
                <a:latin typeface="Microsoft YaHei" panose="020B0503020204020204" pitchFamily="34" charset="-122"/>
                <a:ea typeface="Microsoft YaHei" panose="020B0503020204020204" pitchFamily="34" charset="-122"/>
              </a:rPr>
              <a:t>从事科研工作，</a:t>
            </a:r>
            <a:r>
              <a:rPr kumimoji="1" lang="en-US" altLang="zh-CN" sz="1600" dirty="0">
                <a:latin typeface="Microsoft YaHei" panose="020B0503020204020204" pitchFamily="34" charset="-122"/>
                <a:ea typeface="Microsoft YaHei" panose="020B0503020204020204" pitchFamily="34" charset="-122"/>
              </a:rPr>
              <a:t>2013</a:t>
            </a:r>
            <a:r>
              <a:rPr kumimoji="1" lang="zh-CN" altLang="en-US" sz="1600" dirty="0">
                <a:latin typeface="Microsoft YaHei" panose="020B0503020204020204" pitchFamily="34" charset="-122"/>
                <a:ea typeface="Microsoft YaHei" panose="020B0503020204020204" pitchFamily="34" charset="-122"/>
              </a:rPr>
              <a:t>年全职任大连医科大学肿瘤干细胞研究院教授。近五年，主要研究核酸先天免疫感受与肿瘤，揭示了系列基于核酸物理特性的免疫识别机制，以最后通讯作者在</a:t>
            </a:r>
            <a:r>
              <a:rPr kumimoji="1" lang="en" altLang="zh-CN" sz="1600" b="1" i="1" dirty="0">
                <a:latin typeface="Arial" panose="020B0604020202020204" pitchFamily="34" charset="0"/>
                <a:ea typeface="Microsoft YaHei" panose="020B0503020204020204" pitchFamily="34" charset="-122"/>
                <a:cs typeface="Arial" panose="020B0604020202020204" pitchFamily="34" charset="0"/>
              </a:rPr>
              <a:t>Immunity, Nature Chemical Biology</a:t>
            </a:r>
            <a:r>
              <a:rPr kumimoji="1" lang="zh-CN" altLang="en-US" sz="1600" b="1" i="1" dirty="0">
                <a:latin typeface="Arial" panose="020B0604020202020204" pitchFamily="34" charset="0"/>
                <a:ea typeface="Microsoft YaHei" panose="020B0503020204020204" pitchFamily="34" charset="-122"/>
                <a:cs typeface="Arial" panose="020B0604020202020204" pitchFamily="34" charset="0"/>
              </a:rPr>
              <a:t> </a:t>
            </a:r>
            <a:r>
              <a:rPr kumimoji="1" lang="zh-CN" altLang="en-US" sz="1600" dirty="0">
                <a:latin typeface="Microsoft YaHei" panose="020B0503020204020204" pitchFamily="34" charset="-122"/>
                <a:ea typeface="Microsoft YaHei" panose="020B0503020204020204" pitchFamily="34" charset="-122"/>
              </a:rPr>
              <a:t>等期刊上发表研究论文多篇。</a:t>
            </a:r>
          </a:p>
        </p:txBody>
      </p:sp>
      <p:pic>
        <p:nvPicPr>
          <p:cNvPr id="5" name="图片 4">
            <a:extLst>
              <a:ext uri="{FF2B5EF4-FFF2-40B4-BE49-F238E27FC236}">
                <a16:creationId xmlns:a16="http://schemas.microsoft.com/office/drawing/2014/main" id="{C5A8D9E4-D1C8-AE48-4015-B307616D41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500257"/>
            <a:ext cx="2057541" cy="2692896"/>
          </a:xfrm>
          <a:prstGeom prst="rect">
            <a:avLst/>
          </a:prstGeom>
        </p:spPr>
      </p:pic>
      <p:sp>
        <p:nvSpPr>
          <p:cNvPr id="6" name="文本框 5">
            <a:extLst>
              <a:ext uri="{FF2B5EF4-FFF2-40B4-BE49-F238E27FC236}">
                <a16:creationId xmlns:a16="http://schemas.microsoft.com/office/drawing/2014/main" id="{6C2A371C-87F8-33BB-EF1F-D065EC2464B9}"/>
              </a:ext>
            </a:extLst>
          </p:cNvPr>
          <p:cNvSpPr txBox="1"/>
          <p:nvPr/>
        </p:nvSpPr>
        <p:spPr>
          <a:xfrm>
            <a:off x="494870" y="3003798"/>
            <a:ext cx="2174231" cy="1023742"/>
          </a:xfrm>
          <a:prstGeom prst="rect">
            <a:avLst/>
          </a:prstGeom>
          <a:noFill/>
        </p:spPr>
        <p:txBody>
          <a:bodyPr wrap="square" rtlCol="0">
            <a:spAutoFit/>
          </a:bodyPr>
          <a:lstStyle/>
          <a:p>
            <a:pPr algn="ctr">
              <a:lnSpc>
                <a:spcPct val="150000"/>
              </a:lnSpc>
              <a:buClrTx/>
              <a:buSzTx/>
              <a:buFontTx/>
            </a:pPr>
            <a:endParaRPr lang="zh-CN" altLang="en-US" sz="1400" b="1" dirty="0">
              <a:latin typeface="微软雅黑" panose="020B0503020204020204" charset="-122"/>
              <a:ea typeface="微软雅黑" panose="020B0503020204020204" charset="-122"/>
              <a:sym typeface="+mn-ea"/>
            </a:endParaRPr>
          </a:p>
          <a:p>
            <a:pPr algn="ctr">
              <a:lnSpc>
                <a:spcPct val="150000"/>
              </a:lnSpc>
              <a:buClrTx/>
              <a:buSzTx/>
              <a:buFontTx/>
            </a:pPr>
            <a:r>
              <a:rPr lang="zh-CN" altLang="en-US" sz="1400" b="1" dirty="0">
                <a:latin typeface="微软雅黑" panose="020B0503020204020204" charset="-122"/>
                <a:ea typeface="微软雅黑" panose="020B0503020204020204" charset="-122"/>
                <a:sym typeface="+mn-ea"/>
              </a:rPr>
              <a:t>杨庆凯 二级教授</a:t>
            </a:r>
            <a:endParaRPr lang="en-US" altLang="zh-CN" sz="1400" b="1" dirty="0">
              <a:latin typeface="微软雅黑" panose="020B0503020204020204" charset="-122"/>
              <a:ea typeface="微软雅黑" panose="020B0503020204020204" charset="-122"/>
              <a:sym typeface="+mn-ea"/>
            </a:endParaRPr>
          </a:p>
          <a:p>
            <a:pPr algn="ctr">
              <a:lnSpc>
                <a:spcPct val="150000"/>
              </a:lnSpc>
              <a:defRPr/>
            </a:pPr>
            <a:r>
              <a:rPr lang="zh-CN" altLang="en-US" sz="1400" b="1" dirty="0">
                <a:latin typeface="微软雅黑" panose="020B0503020204020204" pitchFamily="34" charset="-122"/>
                <a:ea typeface="微软雅黑" panose="020B0503020204020204" pitchFamily="34" charset="-122"/>
              </a:rPr>
              <a:t>大连医科大学</a:t>
            </a:r>
            <a:endParaRPr lang="en-US" altLang="zh-CN" sz="1400" b="1" dirty="0">
              <a:latin typeface="微软雅黑" panose="020B0503020204020204" pitchFamily="34" charset="-122"/>
              <a:ea typeface="微软雅黑" panose="020B0503020204020204" pitchFamily="34" charset="-122"/>
              <a:cs typeface="宋体" panose="02010600030101010101" pitchFamily="2" charset="-122"/>
            </a:endParaRPr>
          </a:p>
        </p:txBody>
      </p:sp>
    </p:spTree>
    <p:extLst>
      <p:ext uri="{BB962C8B-B14F-4D97-AF65-F5344CB8AC3E}">
        <p14:creationId xmlns:p14="http://schemas.microsoft.com/office/powerpoint/2010/main" val="48912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D7FCF22-182F-ADF2-CBE1-2A4512669A5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3069" t="18342" r="6577" b="39859"/>
          <a:stretch/>
        </p:blipFill>
        <p:spPr bwMode="auto">
          <a:xfrm>
            <a:off x="467544" y="483518"/>
            <a:ext cx="2356766" cy="2448272"/>
          </a:xfrm>
          <a:prstGeom prst="rect">
            <a:avLst/>
          </a:prstGeom>
          <a:noFill/>
          <a:ln>
            <a:noFill/>
          </a:ln>
          <a:extLst>
            <a:ext uri="{53640926-AAD7-44D8-BBD7-CCE9431645EC}">
              <a14:shadowObscured xmlns:a14="http://schemas.microsoft.com/office/drawing/2010/main"/>
            </a:ext>
          </a:extLst>
        </p:spPr>
      </p:pic>
      <p:sp>
        <p:nvSpPr>
          <p:cNvPr id="4" name="文本框 3">
            <a:extLst>
              <a:ext uri="{FF2B5EF4-FFF2-40B4-BE49-F238E27FC236}">
                <a16:creationId xmlns:a16="http://schemas.microsoft.com/office/drawing/2014/main" id="{5EFFDAB9-158D-2891-6C2C-B63AED27877E}"/>
              </a:ext>
            </a:extLst>
          </p:cNvPr>
          <p:cNvSpPr txBox="1"/>
          <p:nvPr/>
        </p:nvSpPr>
        <p:spPr>
          <a:xfrm>
            <a:off x="3112342" y="339502"/>
            <a:ext cx="5564114" cy="3742115"/>
          </a:xfrm>
          <a:prstGeom prst="rect">
            <a:avLst/>
          </a:prstGeom>
          <a:noFill/>
          <a:ln>
            <a:solidFill>
              <a:schemeClr val="accent3">
                <a:lumMod val="75000"/>
              </a:schemeClr>
            </a:solidFill>
          </a:ln>
        </p:spPr>
        <p:txBody>
          <a:bodyPr wrap="square" rtlCol="0">
            <a:spAutoFit/>
          </a:bodyPr>
          <a:lstStyle/>
          <a:p>
            <a:pPr>
              <a:lnSpc>
                <a:spcPct val="150000"/>
              </a:lnSpc>
            </a:pP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中国科学院上海药物研究所研究员</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博士生导师</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课题组长，担任药物所质谱平台主任。</a:t>
            </a:r>
            <a:endPar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a:lnSpc>
                <a:spcPct val="150000"/>
              </a:lnSpc>
            </a:pP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研究方向为基于质谱的药物蛋白质组学研究。</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2001</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年于南开大学获生物学学士学位；</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2007</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年于中科院生物化学与细胞生物学研究所获博士学位；</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2008</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年至</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2012</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年在渥太华大学进行博士后研究；</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2012</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年入职中科院上海药物所。近</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5</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年在</a:t>
            </a:r>
            <a:r>
              <a:rPr lang="en-US" altLang="zh-CN" sz="1600" b="1" i="1" kern="100" dirty="0">
                <a:effectLst/>
                <a:latin typeface="Arial" panose="020B0604020202020204" pitchFamily="34" charset="0"/>
                <a:ea typeface="Microsoft YaHei" panose="020B0503020204020204" pitchFamily="34" charset="-122"/>
                <a:cs typeface="Arial" panose="020B0604020202020204" pitchFamily="34" charset="0"/>
              </a:rPr>
              <a:t>Cell</a:t>
            </a:r>
            <a:r>
              <a:rPr lang="zh-CN" altLang="zh-CN" sz="1600" b="1" i="1" kern="100" dirty="0">
                <a:effectLst/>
                <a:latin typeface="Arial" panose="020B0604020202020204" pitchFamily="34" charset="0"/>
                <a:ea typeface="Microsoft YaHei" panose="020B0503020204020204" pitchFamily="34" charset="-122"/>
                <a:cs typeface="Arial" panose="020B0604020202020204" pitchFamily="34" charset="0"/>
              </a:rPr>
              <a:t>、</a:t>
            </a:r>
            <a:r>
              <a:rPr lang="en-US" altLang="zh-CN" sz="1600" b="1" i="1" kern="100" dirty="0">
                <a:effectLst/>
                <a:latin typeface="Arial" panose="020B0604020202020204" pitchFamily="34" charset="0"/>
                <a:ea typeface="Microsoft YaHei" panose="020B0503020204020204" pitchFamily="34" charset="-122"/>
                <a:cs typeface="Arial" panose="020B0604020202020204" pitchFamily="34" charset="0"/>
              </a:rPr>
              <a:t>Cancer Cell</a:t>
            </a:r>
            <a:r>
              <a:rPr lang="zh-CN" altLang="zh-CN" sz="1600" b="1" i="1" kern="100" dirty="0">
                <a:effectLst/>
                <a:latin typeface="Arial" panose="020B0604020202020204" pitchFamily="34" charset="0"/>
                <a:ea typeface="Microsoft YaHei" panose="020B0503020204020204" pitchFamily="34" charset="-122"/>
                <a:cs typeface="Arial" panose="020B0604020202020204" pitchFamily="34" charset="0"/>
              </a:rPr>
              <a:t>、</a:t>
            </a:r>
            <a:r>
              <a:rPr lang="en-US" altLang="zh-CN" sz="1600" b="1" i="1" kern="100" dirty="0">
                <a:effectLst/>
                <a:latin typeface="Arial" panose="020B0604020202020204" pitchFamily="34" charset="0"/>
                <a:ea typeface="Microsoft YaHei" panose="020B0503020204020204" pitchFamily="34" charset="-122"/>
                <a:cs typeface="Arial" panose="020B0604020202020204" pitchFamily="34" charset="0"/>
              </a:rPr>
              <a:t>JACS</a:t>
            </a:r>
            <a:r>
              <a:rPr lang="zh-CN" altLang="en-US" sz="1600" b="1" i="1" kern="100" dirty="0">
                <a:effectLst/>
                <a:latin typeface="Arial" panose="020B0604020202020204" pitchFamily="34" charset="0"/>
                <a:ea typeface="Microsoft YaHei" panose="020B0503020204020204" pitchFamily="34" charset="-122"/>
                <a:cs typeface="Arial" panose="020B0604020202020204" pitchFamily="34" charset="0"/>
              </a:rPr>
              <a:t> </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等期刊上发表通讯或共同通讯作者论文</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30</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余篇。获得上海市青年优秀学术带头人、上海市领军人才、国家杰出青年基金等项目资助。</a:t>
            </a:r>
          </a:p>
          <a:p>
            <a:pPr>
              <a:lnSpc>
                <a:spcPct val="150000"/>
              </a:lnSpc>
            </a:pPr>
            <a:endParaRPr kumimoji="1" lang="zh-CN" altLang="en-US" sz="1600"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0559D8DA-3E2A-D1C3-6C24-19BBD379C50C}"/>
              </a:ext>
            </a:extLst>
          </p:cNvPr>
          <p:cNvSpPr txBox="1"/>
          <p:nvPr/>
        </p:nvSpPr>
        <p:spPr>
          <a:xfrm>
            <a:off x="558811" y="2787774"/>
            <a:ext cx="2356766" cy="1023742"/>
          </a:xfrm>
          <a:prstGeom prst="rect">
            <a:avLst/>
          </a:prstGeom>
          <a:noFill/>
        </p:spPr>
        <p:txBody>
          <a:bodyPr wrap="square" rtlCol="0">
            <a:spAutoFit/>
          </a:bodyPr>
          <a:lstStyle/>
          <a:p>
            <a:pPr algn="ctr">
              <a:lnSpc>
                <a:spcPct val="150000"/>
              </a:lnSpc>
              <a:buClrTx/>
              <a:buSzTx/>
              <a:buFontTx/>
            </a:pPr>
            <a:endParaRPr lang="zh-CN" altLang="en-US"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lang="zh-CN" altLang="en-US" sz="1400" b="1" dirty="0">
                <a:latin typeface="Microsoft YaHei" panose="020B0503020204020204" pitchFamily="34" charset="-122"/>
                <a:ea typeface="Microsoft YaHei" panose="020B0503020204020204" pitchFamily="34" charset="-122"/>
                <a:sym typeface="+mn-ea"/>
              </a:rPr>
              <a:t>周虎 研究员</a:t>
            </a:r>
            <a:endParaRPr lang="en-US" altLang="zh-CN" sz="1400" b="1" dirty="0">
              <a:latin typeface="Microsoft YaHei" panose="020B0503020204020204" pitchFamily="34" charset="-122"/>
              <a:ea typeface="Microsoft YaHei" panose="020B0503020204020204" pitchFamily="34" charset="-122"/>
              <a:sym typeface="+mn-ea"/>
            </a:endParaRPr>
          </a:p>
          <a:p>
            <a:pPr algn="ctr">
              <a:lnSpc>
                <a:spcPct val="150000"/>
              </a:lnSpc>
              <a:defRPr/>
            </a:pPr>
            <a:r>
              <a:rPr lang="zh-CN" altLang="zh-CN"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中国科学院上海药物研究所</a:t>
            </a:r>
            <a:endParaRPr lang="en-US" altLang="zh-CN" sz="1400" b="1" dirty="0">
              <a:latin typeface="Microsoft YaHei" panose="020B0503020204020204" pitchFamily="34" charset="-122"/>
              <a:ea typeface="Microsoft YaHei" panose="020B0503020204020204" pitchFamily="34" charset="-122"/>
              <a:cs typeface="宋体" panose="02010600030101010101" pitchFamily="2" charset="-122"/>
            </a:endParaRPr>
          </a:p>
        </p:txBody>
      </p:sp>
    </p:spTree>
    <p:extLst>
      <p:ext uri="{BB962C8B-B14F-4D97-AF65-F5344CB8AC3E}">
        <p14:creationId xmlns:p14="http://schemas.microsoft.com/office/powerpoint/2010/main" val="4216322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FD2C224-ED63-04AB-B95F-7A36195B0A65}"/>
              </a:ext>
            </a:extLst>
          </p:cNvPr>
          <p:cNvPicPr>
            <a:picLocks noChangeAspect="1"/>
          </p:cNvPicPr>
          <p:nvPr/>
        </p:nvPicPr>
        <p:blipFill>
          <a:blip r:embed="rId2"/>
          <a:stretch>
            <a:fillRect/>
          </a:stretch>
        </p:blipFill>
        <p:spPr>
          <a:xfrm>
            <a:off x="179512" y="295498"/>
            <a:ext cx="2160240" cy="2160240"/>
          </a:xfrm>
          <a:prstGeom prst="rect">
            <a:avLst/>
          </a:prstGeom>
        </p:spPr>
      </p:pic>
      <p:sp>
        <p:nvSpPr>
          <p:cNvPr id="4" name="文本框 3">
            <a:extLst>
              <a:ext uri="{FF2B5EF4-FFF2-40B4-BE49-F238E27FC236}">
                <a16:creationId xmlns:a16="http://schemas.microsoft.com/office/drawing/2014/main" id="{0466C223-BE23-6421-689D-359019AAA221}"/>
              </a:ext>
            </a:extLst>
          </p:cNvPr>
          <p:cNvSpPr txBox="1"/>
          <p:nvPr/>
        </p:nvSpPr>
        <p:spPr>
          <a:xfrm>
            <a:off x="2528441" y="120887"/>
            <a:ext cx="6434968" cy="4901726"/>
          </a:xfrm>
          <a:prstGeom prst="rect">
            <a:avLst/>
          </a:prstGeom>
          <a:noFill/>
          <a:ln>
            <a:solidFill>
              <a:schemeClr val="accent3">
                <a:lumMod val="75000"/>
              </a:schemeClr>
            </a:solidFill>
          </a:ln>
        </p:spPr>
        <p:txBody>
          <a:bodyPr wrap="square" rtlCol="0">
            <a:spAutoFit/>
          </a:bodyPr>
          <a:lstStyle/>
          <a:p>
            <a:pPr>
              <a:lnSpc>
                <a:spcPct val="150000"/>
              </a:lnSpc>
            </a:pPr>
            <a:r>
              <a:rPr kumimoji="1" lang="en-US" altLang="zh-CN" sz="1400" dirty="0">
                <a:latin typeface="Microsoft YaHei" panose="020B0503020204020204" pitchFamily="34" charset="-122"/>
                <a:ea typeface="Microsoft YaHei" panose="020B0503020204020204" pitchFamily="34" charset="-122"/>
              </a:rPr>
              <a:t>“</a:t>
            </a:r>
            <a:r>
              <a:rPr kumimoji="1" lang="zh-CN" altLang="en-US" sz="1400" dirty="0">
                <a:latin typeface="Microsoft YaHei" panose="020B0503020204020204" pitchFamily="34" charset="-122"/>
                <a:ea typeface="Microsoft YaHei" panose="020B0503020204020204" pitchFamily="34" charset="-122"/>
              </a:rPr>
              <a:t>国家基金委杰出青年基金”、 “国家基金委优秀青年基金”、 “国家高层次青年人才”、福建省“百人计划”、厦门大学“南强特聘”教授、厦门大学药学院院长、福建省药物新靶点研究重点实验室主任、福建省药理学会理事长。</a:t>
            </a:r>
            <a:endParaRPr kumimoji="1" lang="en-US" altLang="zh-CN" sz="1400" dirty="0">
              <a:latin typeface="Microsoft YaHei" panose="020B0503020204020204" pitchFamily="34" charset="-122"/>
              <a:ea typeface="Microsoft YaHei" panose="020B0503020204020204" pitchFamily="34" charset="-122"/>
            </a:endParaRPr>
          </a:p>
          <a:p>
            <a:pPr>
              <a:lnSpc>
                <a:spcPct val="150000"/>
              </a:lnSpc>
            </a:pPr>
            <a:r>
              <a:rPr kumimoji="1" lang="zh-CN" altLang="en-US" sz="1400" dirty="0">
                <a:latin typeface="Microsoft YaHei" panose="020B0503020204020204" pitchFamily="34" charset="-122"/>
                <a:ea typeface="Microsoft YaHei" panose="020B0503020204020204" pitchFamily="34" charset="-122"/>
              </a:rPr>
              <a:t>主要专注于癌症等重大疾病的表观遗传分子机制以及应用研究，在此领域取得了一系列具有重要意义的成果：是多项国际国内专利的持有人；发表多篇高水平研究论文，包括</a:t>
            </a:r>
            <a:r>
              <a:rPr kumimoji="1" lang="en" altLang="zh-CN" sz="1400" b="1" i="1" dirty="0">
                <a:latin typeface="Arial" panose="020B0604020202020204" pitchFamily="34" charset="0"/>
                <a:ea typeface="Microsoft YaHei" panose="020B0503020204020204" pitchFamily="34" charset="-122"/>
                <a:cs typeface="Arial" panose="020B0604020202020204" pitchFamily="34" charset="0"/>
              </a:rPr>
              <a:t>Nature</a:t>
            </a:r>
            <a:r>
              <a:rPr kumimoji="1" lang="zh-CN" altLang="en" sz="1400" b="1" i="1" dirty="0">
                <a:latin typeface="Arial" panose="020B0604020202020204" pitchFamily="34" charset="0"/>
                <a:ea typeface="Microsoft YaHei" panose="020B0503020204020204" pitchFamily="34" charset="-122"/>
                <a:cs typeface="Arial" panose="020B0604020202020204" pitchFamily="34" charset="0"/>
              </a:rPr>
              <a:t>，</a:t>
            </a:r>
            <a:r>
              <a:rPr kumimoji="1" lang="en" altLang="zh-CN" sz="1400" b="1" i="1" dirty="0">
                <a:latin typeface="Arial" panose="020B0604020202020204" pitchFamily="34" charset="0"/>
                <a:ea typeface="Microsoft YaHei" panose="020B0503020204020204" pitchFamily="34" charset="-122"/>
                <a:cs typeface="Arial" panose="020B0604020202020204" pitchFamily="34" charset="0"/>
              </a:rPr>
              <a:t>Cell</a:t>
            </a:r>
            <a:r>
              <a:rPr kumimoji="1" lang="zh-CN" altLang="en" sz="1400" b="1" i="1" dirty="0">
                <a:latin typeface="Arial" panose="020B0604020202020204" pitchFamily="34" charset="0"/>
                <a:ea typeface="Microsoft YaHei" panose="020B0503020204020204" pitchFamily="34" charset="-122"/>
                <a:cs typeface="Arial" panose="020B0604020202020204" pitchFamily="34" charset="0"/>
              </a:rPr>
              <a:t>，</a:t>
            </a:r>
            <a:r>
              <a:rPr kumimoji="1" lang="en" altLang="zh-CN" sz="1400" b="1" i="1" dirty="0">
                <a:latin typeface="Arial" panose="020B0604020202020204" pitchFamily="34" charset="0"/>
                <a:ea typeface="Microsoft YaHei" panose="020B0503020204020204" pitchFamily="34" charset="-122"/>
                <a:cs typeface="Arial" panose="020B0604020202020204" pitchFamily="34" charset="0"/>
              </a:rPr>
              <a:t>Cancer Cell</a:t>
            </a:r>
            <a:r>
              <a:rPr kumimoji="1" lang="zh-CN" altLang="en" sz="1400" b="1" i="1" dirty="0">
                <a:latin typeface="Arial" panose="020B0604020202020204" pitchFamily="34" charset="0"/>
                <a:ea typeface="Microsoft YaHei" panose="020B0503020204020204" pitchFamily="34" charset="-122"/>
                <a:cs typeface="Arial" panose="020B0604020202020204" pitchFamily="34" charset="0"/>
              </a:rPr>
              <a:t>， </a:t>
            </a:r>
            <a:r>
              <a:rPr kumimoji="1" lang="en" altLang="zh-CN" sz="1400" b="1" i="1" dirty="0">
                <a:latin typeface="Arial" panose="020B0604020202020204" pitchFamily="34" charset="0"/>
                <a:ea typeface="Microsoft YaHei" panose="020B0503020204020204" pitchFamily="34" charset="-122"/>
                <a:cs typeface="Arial" panose="020B0604020202020204" pitchFamily="34" charset="0"/>
              </a:rPr>
              <a:t>Molecular Cell</a:t>
            </a:r>
            <a:r>
              <a:rPr kumimoji="1" lang="zh-CN" altLang="en" sz="1400" b="1" i="1" dirty="0">
                <a:latin typeface="Arial" panose="020B0604020202020204" pitchFamily="34" charset="0"/>
                <a:ea typeface="Microsoft YaHei" panose="020B0503020204020204" pitchFamily="34" charset="-122"/>
                <a:cs typeface="Arial" panose="020B0604020202020204" pitchFamily="34" charset="0"/>
              </a:rPr>
              <a:t>， </a:t>
            </a:r>
            <a:r>
              <a:rPr kumimoji="1" lang="en" altLang="zh-CN" sz="1400" b="1" i="1" dirty="0">
                <a:latin typeface="Arial" panose="020B0604020202020204" pitchFamily="34" charset="0"/>
                <a:ea typeface="Microsoft YaHei" panose="020B0503020204020204" pitchFamily="34" charset="-122"/>
                <a:cs typeface="Arial" panose="020B0604020202020204" pitchFamily="34" charset="0"/>
              </a:rPr>
              <a:t>Developmental Cell, Cell Reports</a:t>
            </a:r>
            <a:r>
              <a:rPr kumimoji="1" lang="zh-CN" altLang="en" sz="1400" b="1" i="1" dirty="0">
                <a:latin typeface="Arial" panose="020B0604020202020204" pitchFamily="34" charset="0"/>
                <a:ea typeface="Microsoft YaHei" panose="020B0503020204020204" pitchFamily="34" charset="-122"/>
                <a:cs typeface="Arial" panose="020B0604020202020204" pitchFamily="34" charset="0"/>
              </a:rPr>
              <a:t>，</a:t>
            </a:r>
            <a:r>
              <a:rPr kumimoji="1" lang="en" altLang="zh-CN" sz="1400" b="1" i="1" dirty="0">
                <a:latin typeface="Arial" panose="020B0604020202020204" pitchFamily="34" charset="0"/>
                <a:ea typeface="Microsoft YaHei" panose="020B0503020204020204" pitchFamily="34" charset="-122"/>
                <a:cs typeface="Arial" panose="020B0604020202020204" pitchFamily="34" charset="0"/>
              </a:rPr>
              <a:t>Science Advances, Nature Communications, PNAS</a:t>
            </a:r>
            <a:r>
              <a:rPr kumimoji="1" lang="zh-CN" altLang="en" sz="1400" b="1" i="1" dirty="0">
                <a:latin typeface="Arial" panose="020B0604020202020204" pitchFamily="34" charset="0"/>
                <a:ea typeface="Microsoft YaHei" panose="020B0503020204020204" pitchFamily="34" charset="-122"/>
                <a:cs typeface="Arial" panose="020B0604020202020204" pitchFamily="34" charset="0"/>
              </a:rPr>
              <a:t>，</a:t>
            </a:r>
            <a:r>
              <a:rPr kumimoji="1" lang="en" altLang="zh-CN" sz="1400" b="1" i="1" dirty="0">
                <a:latin typeface="Arial" panose="020B0604020202020204" pitchFamily="34" charset="0"/>
                <a:ea typeface="Microsoft YaHei" panose="020B0503020204020204" pitchFamily="34" charset="-122"/>
                <a:cs typeface="Arial" panose="020B0604020202020204" pitchFamily="34" charset="0"/>
              </a:rPr>
              <a:t>EMBO Journal</a:t>
            </a:r>
            <a:r>
              <a:rPr kumimoji="1" lang="zh-CN" altLang="en-US" sz="1400" dirty="0">
                <a:latin typeface="Microsoft YaHei" panose="020B0503020204020204" pitchFamily="34" charset="-122"/>
                <a:ea typeface="Microsoft YaHei" panose="020B0503020204020204" pitchFamily="34" charset="-122"/>
              </a:rPr>
              <a:t>等；在抗癌小分子</a:t>
            </a:r>
            <a:r>
              <a:rPr kumimoji="1" lang="en" altLang="zh-CN" sz="1400" dirty="0">
                <a:latin typeface="Microsoft YaHei" panose="020B0503020204020204" pitchFamily="34" charset="-122"/>
                <a:ea typeface="Microsoft YaHei" panose="020B0503020204020204" pitchFamily="34" charset="-122"/>
              </a:rPr>
              <a:t>K-80003</a:t>
            </a:r>
            <a:r>
              <a:rPr kumimoji="1" lang="zh-CN" altLang="en-US" sz="1400" dirty="0">
                <a:latin typeface="Microsoft YaHei" panose="020B0503020204020204" pitchFamily="34" charset="-122"/>
                <a:ea typeface="Microsoft YaHei" panose="020B0503020204020204" pitchFamily="34" charset="-122"/>
              </a:rPr>
              <a:t>方面的研究成果在国际上具有广泛的影响力，该小分子获得了美国</a:t>
            </a:r>
            <a:r>
              <a:rPr kumimoji="1" lang="en" altLang="zh-CN" sz="1400" dirty="0">
                <a:latin typeface="Microsoft YaHei" panose="020B0503020204020204" pitchFamily="34" charset="-122"/>
                <a:ea typeface="Microsoft YaHei" panose="020B0503020204020204" pitchFamily="34" charset="-122"/>
              </a:rPr>
              <a:t>FDA</a:t>
            </a:r>
            <a:r>
              <a:rPr kumimoji="1" lang="zh-CN" altLang="en-US" sz="1400" dirty="0">
                <a:latin typeface="Microsoft YaHei" panose="020B0503020204020204" pitchFamily="34" charset="-122"/>
                <a:ea typeface="Microsoft YaHei" panose="020B0503020204020204" pitchFamily="34" charset="-122"/>
              </a:rPr>
              <a:t>关于其在晚期结直肠癌中开展临床实验的批件并进入</a:t>
            </a:r>
            <a:r>
              <a:rPr kumimoji="1" lang="en" altLang="zh-CN" sz="1400" dirty="0">
                <a:latin typeface="Microsoft YaHei" panose="020B0503020204020204" pitchFamily="34" charset="-122"/>
                <a:ea typeface="Microsoft YaHei" panose="020B0503020204020204" pitchFamily="34" charset="-122"/>
              </a:rPr>
              <a:t>I</a:t>
            </a:r>
            <a:r>
              <a:rPr kumimoji="1" lang="zh-CN" altLang="en-US" sz="1400" dirty="0">
                <a:latin typeface="Microsoft YaHei" panose="020B0503020204020204" pitchFamily="34" charset="-122"/>
                <a:ea typeface="Microsoft YaHei" panose="020B0503020204020204" pitchFamily="34" charset="-122"/>
              </a:rPr>
              <a:t>期临床实验。主持多项课题：国家自然科学基金杰出青年基金，优秀青年基金，区域创新发展联合基金重点项目，</a:t>
            </a:r>
            <a:r>
              <a:rPr kumimoji="1" lang="en" altLang="zh-CN" sz="1400" dirty="0">
                <a:latin typeface="Microsoft YaHei" panose="020B0503020204020204" pitchFamily="34" charset="-122"/>
                <a:ea typeface="Microsoft YaHei" panose="020B0503020204020204" pitchFamily="34" charset="-122"/>
              </a:rPr>
              <a:t>NIH-NSFC</a:t>
            </a:r>
            <a:r>
              <a:rPr kumimoji="1" lang="zh-CN" altLang="en-US" sz="1400" dirty="0">
                <a:latin typeface="Microsoft YaHei" panose="020B0503020204020204" pitchFamily="34" charset="-122"/>
                <a:ea typeface="Microsoft YaHei" panose="020B0503020204020204" pitchFamily="34" charset="-122"/>
              </a:rPr>
              <a:t>生物医学合作研究项目，</a:t>
            </a:r>
            <a:r>
              <a:rPr kumimoji="1" lang="en" altLang="zh-CN" sz="1400" dirty="0">
                <a:latin typeface="Microsoft YaHei" panose="020B0503020204020204" pitchFamily="34" charset="-122"/>
                <a:ea typeface="Microsoft YaHei" panose="020B0503020204020204" pitchFamily="34" charset="-122"/>
              </a:rPr>
              <a:t>NSFC-RS</a:t>
            </a:r>
            <a:r>
              <a:rPr kumimoji="1" lang="zh-CN" altLang="en-US" sz="1400" dirty="0">
                <a:latin typeface="Microsoft YaHei" panose="020B0503020204020204" pitchFamily="34" charset="-122"/>
                <a:ea typeface="Microsoft YaHei" panose="020B0503020204020204" pitchFamily="34" charset="-122"/>
              </a:rPr>
              <a:t>中英人才项目，重大研究计划项目（培育项目），面上项目；科技部重大研究计划课题负责人；福建省自然科学基金“杰出青年科学基金”。取得多项荣誉，获得中国药学会</a:t>
            </a:r>
            <a:r>
              <a:rPr kumimoji="1" lang="en-US" altLang="zh-CN" sz="1400" dirty="0">
                <a:latin typeface="Microsoft YaHei" panose="020B0503020204020204" pitchFamily="34" charset="-122"/>
                <a:ea typeface="Microsoft YaHei" panose="020B0503020204020204" pitchFamily="34" charset="-122"/>
              </a:rPr>
              <a:t>-</a:t>
            </a:r>
            <a:r>
              <a:rPr kumimoji="1" lang="zh-CN" altLang="en-US" sz="1400" dirty="0">
                <a:latin typeface="Microsoft YaHei" panose="020B0503020204020204" pitchFamily="34" charset="-122"/>
                <a:ea typeface="Microsoft YaHei" panose="020B0503020204020204" pitchFamily="34" charset="-122"/>
              </a:rPr>
              <a:t>赛诺菲青年生物药物奖、福建省自然科学一等奖和福建省运盛青年科技奖。</a:t>
            </a:r>
          </a:p>
        </p:txBody>
      </p:sp>
      <p:sp>
        <p:nvSpPr>
          <p:cNvPr id="5" name="文本框 4">
            <a:extLst>
              <a:ext uri="{FF2B5EF4-FFF2-40B4-BE49-F238E27FC236}">
                <a16:creationId xmlns:a16="http://schemas.microsoft.com/office/drawing/2014/main" id="{7C563365-C06C-9881-3162-7018AEC1DE35}"/>
              </a:ext>
            </a:extLst>
          </p:cNvPr>
          <p:cNvSpPr txBox="1"/>
          <p:nvPr/>
        </p:nvSpPr>
        <p:spPr>
          <a:xfrm>
            <a:off x="77331" y="2175892"/>
            <a:ext cx="2356766" cy="1346907"/>
          </a:xfrm>
          <a:prstGeom prst="rect">
            <a:avLst/>
          </a:prstGeom>
          <a:noFill/>
        </p:spPr>
        <p:txBody>
          <a:bodyPr wrap="square" rtlCol="0">
            <a:spAutoFit/>
          </a:bodyPr>
          <a:lstStyle/>
          <a:p>
            <a:pPr algn="ctr">
              <a:lnSpc>
                <a:spcPct val="150000"/>
              </a:lnSpc>
              <a:buClrTx/>
              <a:buSzTx/>
              <a:buFontTx/>
            </a:pPr>
            <a:endParaRPr lang="zh-CN" altLang="en-US"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lang="zh-CN" altLang="en-US" sz="1400" b="1" dirty="0">
                <a:latin typeface="Microsoft YaHei" panose="020B0503020204020204" pitchFamily="34" charset="-122"/>
                <a:ea typeface="Microsoft YaHei" panose="020B0503020204020204" pitchFamily="34" charset="-122"/>
                <a:sym typeface="+mn-ea"/>
              </a:rPr>
              <a:t>刘文  教授  </a:t>
            </a:r>
            <a:endParaRPr lang="en-US" altLang="zh-CN"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kumimoji="1" lang="zh-CN" altLang="en-US" sz="1400" b="1" dirty="0">
                <a:latin typeface="Microsoft YaHei" panose="020B0503020204020204" pitchFamily="34" charset="-122"/>
                <a:ea typeface="Microsoft YaHei" panose="020B0503020204020204" pitchFamily="34" charset="-122"/>
              </a:rPr>
              <a:t>博士生导师</a:t>
            </a:r>
            <a:endParaRPr lang="en-US" altLang="zh-CN"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kumimoji="1" lang="zh-CN" altLang="en-US" sz="1400" b="1" dirty="0">
                <a:latin typeface="Microsoft YaHei" panose="020B0503020204020204" pitchFamily="34" charset="-122"/>
                <a:ea typeface="Microsoft YaHei" panose="020B0503020204020204" pitchFamily="34" charset="-122"/>
              </a:rPr>
              <a:t>厦门大学</a:t>
            </a:r>
            <a:endParaRPr lang="en-US" altLang="zh-CN" sz="1400" b="1" dirty="0">
              <a:latin typeface="Microsoft YaHei" panose="020B0503020204020204" pitchFamily="34" charset="-122"/>
              <a:ea typeface="Microsoft YaHei" panose="020B0503020204020204" pitchFamily="34" charset="-122"/>
              <a:cs typeface="宋体" panose="02010600030101010101" pitchFamily="2" charset="-122"/>
            </a:endParaRPr>
          </a:p>
        </p:txBody>
      </p:sp>
    </p:spTree>
    <p:extLst>
      <p:ext uri="{BB962C8B-B14F-4D97-AF65-F5344CB8AC3E}">
        <p14:creationId xmlns:p14="http://schemas.microsoft.com/office/powerpoint/2010/main" val="339915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高平照片_20240314">
            <a:extLst>
              <a:ext uri="{FF2B5EF4-FFF2-40B4-BE49-F238E27FC236}">
                <a16:creationId xmlns:a16="http://schemas.microsoft.com/office/drawing/2014/main" id="{AE0319F4-E97A-5950-6043-418063C61EE1}"/>
              </a:ext>
            </a:extLst>
          </p:cNvPr>
          <p:cNvPicPr>
            <a:picLocks noChangeAspect="1"/>
          </p:cNvPicPr>
          <p:nvPr/>
        </p:nvPicPr>
        <p:blipFill>
          <a:blip r:embed="rId2"/>
          <a:stretch>
            <a:fillRect/>
          </a:stretch>
        </p:blipFill>
        <p:spPr>
          <a:xfrm>
            <a:off x="599039" y="466922"/>
            <a:ext cx="2256923" cy="2304256"/>
          </a:xfrm>
          <a:prstGeom prst="rect">
            <a:avLst/>
          </a:prstGeom>
        </p:spPr>
      </p:pic>
      <p:sp>
        <p:nvSpPr>
          <p:cNvPr id="4" name="文本框 3">
            <a:extLst>
              <a:ext uri="{FF2B5EF4-FFF2-40B4-BE49-F238E27FC236}">
                <a16:creationId xmlns:a16="http://schemas.microsoft.com/office/drawing/2014/main" id="{72B735C8-F25E-AC4A-5884-47DAE5B43D66}"/>
              </a:ext>
            </a:extLst>
          </p:cNvPr>
          <p:cNvSpPr txBox="1"/>
          <p:nvPr/>
        </p:nvSpPr>
        <p:spPr>
          <a:xfrm>
            <a:off x="3043681" y="444052"/>
            <a:ext cx="5472608" cy="4255396"/>
          </a:xfrm>
          <a:prstGeom prst="rect">
            <a:avLst/>
          </a:prstGeom>
          <a:noFill/>
          <a:ln>
            <a:solidFill>
              <a:schemeClr val="accent3">
                <a:lumMod val="75000"/>
              </a:schemeClr>
            </a:solidFill>
          </a:ln>
        </p:spPr>
        <p:txBody>
          <a:bodyPr wrap="square" rtlCol="0">
            <a:spAutoFit/>
          </a:bodyPr>
          <a:lstStyle/>
          <a:p>
            <a:pPr>
              <a:lnSpc>
                <a:spcPct val="150000"/>
              </a:lnSpc>
            </a:pP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南方医科大学</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广东省人民医院教授，博士生导师，广东省引进“科技创新领军人才”</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科技部重大研究计划</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973</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首席科学家</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中国抗癌协会理事。</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2003</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年于日本大阪大学医学院获博士学位，</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2003</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至</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2005</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年在美国国立癌症研究所</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(NCI)</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博士后，</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2005</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年至</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2010</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美国约翰霍普金斯大学医学院任博士后及助理研究员，</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2010</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年至</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2017</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年任中国科技大学教授，</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2017</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年至</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2022</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年任华南理工大学教授，</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2013</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年入选“安徽百人”特聘教授，</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2016</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入选中科院特聘研究员，</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2019</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年入选广东省珠江人才计划“科技创新领军人才”，</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2022</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年至今任南方医科大学</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广东省人民医院教授。目前主要从事肿瘤代谢相关的研究，在 </a:t>
            </a:r>
            <a:r>
              <a:rPr lang="en-US" altLang="zh-CN" sz="1400" i="1" kern="100" dirty="0">
                <a:effectLst/>
                <a:latin typeface="Microsoft YaHei" panose="020B0503020204020204" pitchFamily="34" charset="-122"/>
                <a:ea typeface="Microsoft YaHei" panose="020B0503020204020204" pitchFamily="34" charset="-122"/>
                <a:cs typeface="Calibri" panose="020F0502020204030204" pitchFamily="34" charset="0"/>
              </a:rPr>
              <a:t>Nature</a:t>
            </a:r>
            <a:r>
              <a:rPr lang="zh-CN" altLang="zh-CN" sz="1400" i="1" kern="100" dirty="0">
                <a:effectLst/>
                <a:latin typeface="Microsoft YaHei" panose="020B0503020204020204" pitchFamily="34" charset="-122"/>
                <a:ea typeface="Microsoft YaHei" panose="020B0503020204020204" pitchFamily="34" charset="-122"/>
                <a:cs typeface="Calibri" panose="020F0502020204030204" pitchFamily="34" charset="0"/>
              </a:rPr>
              <a:t>、</a:t>
            </a:r>
            <a:r>
              <a:rPr lang="en-US" altLang="zh-CN" sz="1400" i="1" kern="100" dirty="0">
                <a:effectLst/>
                <a:latin typeface="Microsoft YaHei" panose="020B0503020204020204" pitchFamily="34" charset="-122"/>
                <a:ea typeface="Microsoft YaHei" panose="020B0503020204020204" pitchFamily="34" charset="-122"/>
                <a:cs typeface="Calibri" panose="020F0502020204030204" pitchFamily="34" charset="0"/>
              </a:rPr>
              <a:t>Cancer Cell</a:t>
            </a:r>
            <a:r>
              <a:rPr lang="zh-CN" altLang="zh-CN" sz="1400" i="1" kern="100" dirty="0">
                <a:effectLst/>
                <a:latin typeface="Microsoft YaHei" panose="020B0503020204020204" pitchFamily="34" charset="-122"/>
                <a:ea typeface="Microsoft YaHei" panose="020B0503020204020204" pitchFamily="34" charset="-122"/>
                <a:cs typeface="Calibri" panose="020F0502020204030204" pitchFamily="34" charset="0"/>
              </a:rPr>
              <a:t>、</a:t>
            </a:r>
            <a:r>
              <a:rPr lang="en-US" altLang="zh-CN" sz="1400" i="1" kern="100" dirty="0">
                <a:effectLst/>
                <a:latin typeface="Microsoft YaHei" panose="020B0503020204020204" pitchFamily="34" charset="-122"/>
                <a:ea typeface="Microsoft YaHei" panose="020B0503020204020204" pitchFamily="34" charset="-122"/>
                <a:cs typeface="Calibri" panose="020F0502020204030204" pitchFamily="34" charset="0"/>
              </a:rPr>
              <a:t>Nature Cancer, Cell Metabolism</a:t>
            </a:r>
            <a:r>
              <a:rPr lang="zh-CN" altLang="zh-CN" sz="1400" i="1" kern="100" dirty="0">
                <a:effectLst/>
                <a:latin typeface="Microsoft YaHei" panose="020B0503020204020204" pitchFamily="34" charset="-122"/>
                <a:ea typeface="Microsoft YaHei" panose="020B0503020204020204" pitchFamily="34" charset="-122"/>
                <a:cs typeface="Calibri" panose="020F0502020204030204" pitchFamily="34" charset="0"/>
              </a:rPr>
              <a:t>、</a:t>
            </a:r>
            <a:r>
              <a:rPr lang="en-US" altLang="zh-CN" sz="1400" i="1" kern="100" dirty="0">
                <a:effectLst/>
                <a:latin typeface="Microsoft YaHei" panose="020B0503020204020204" pitchFamily="34" charset="-122"/>
                <a:ea typeface="Microsoft YaHei" panose="020B0503020204020204" pitchFamily="34" charset="-122"/>
                <a:cs typeface="Calibri" panose="020F0502020204030204" pitchFamily="34" charset="0"/>
              </a:rPr>
              <a:t>Nature Metabolism</a:t>
            </a:r>
            <a:r>
              <a:rPr lang="zh-CN" altLang="zh-CN" sz="1400" i="1" kern="100" dirty="0">
                <a:effectLst/>
                <a:latin typeface="Microsoft YaHei" panose="020B0503020204020204" pitchFamily="34" charset="-122"/>
                <a:ea typeface="Microsoft YaHei" panose="020B0503020204020204" pitchFamily="34" charset="-122"/>
                <a:cs typeface="Calibri" panose="020F0502020204030204" pitchFamily="34" charset="0"/>
              </a:rPr>
              <a:t>、</a:t>
            </a:r>
            <a:r>
              <a:rPr lang="en-US" altLang="zh-CN" sz="1400" i="1" kern="100" dirty="0">
                <a:effectLst/>
                <a:latin typeface="Microsoft YaHei" panose="020B0503020204020204" pitchFamily="34" charset="-122"/>
                <a:ea typeface="Microsoft YaHei" panose="020B0503020204020204" pitchFamily="34" charset="-122"/>
                <a:cs typeface="Calibri" panose="020F0502020204030204" pitchFamily="34" charset="0"/>
              </a:rPr>
              <a:t>Blood</a:t>
            </a:r>
            <a:r>
              <a:rPr lang="en-US" altLang="zh-CN" sz="1400" b="1" i="1" kern="100" dirty="0">
                <a:effectLst/>
                <a:latin typeface="Microsoft YaHei" panose="020B0503020204020204" pitchFamily="34" charset="-122"/>
                <a:ea typeface="Microsoft YaHei" panose="020B0503020204020204" pitchFamily="34" charset="-122"/>
                <a:cs typeface="Calibri" panose="020F0502020204030204" pitchFamily="34" charset="0"/>
              </a:rPr>
              <a:t> </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等杂志发表论文</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90</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多篇，论文他引</a:t>
            </a:r>
            <a:r>
              <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15000</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次以上。</a:t>
            </a:r>
          </a:p>
          <a:p>
            <a:pPr>
              <a:lnSpc>
                <a:spcPct val="150000"/>
              </a:lnSpc>
            </a:pPr>
            <a:endParaRPr kumimoji="1" lang="zh-CN" altLang="en-US" sz="1400"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3BA2BE95-1526-4BA1-C88A-76236BDFF04E}"/>
              </a:ext>
            </a:extLst>
          </p:cNvPr>
          <p:cNvSpPr txBox="1"/>
          <p:nvPr/>
        </p:nvSpPr>
        <p:spPr>
          <a:xfrm>
            <a:off x="486711" y="2499742"/>
            <a:ext cx="2356766" cy="1346907"/>
          </a:xfrm>
          <a:prstGeom prst="rect">
            <a:avLst/>
          </a:prstGeom>
          <a:noFill/>
        </p:spPr>
        <p:txBody>
          <a:bodyPr wrap="square" rtlCol="0">
            <a:spAutoFit/>
          </a:bodyPr>
          <a:lstStyle/>
          <a:p>
            <a:pPr algn="ctr">
              <a:lnSpc>
                <a:spcPct val="150000"/>
              </a:lnSpc>
              <a:buClrTx/>
              <a:buSzTx/>
              <a:buFontTx/>
            </a:pPr>
            <a:endParaRPr lang="zh-CN" altLang="en-US"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lang="zh-CN" altLang="en-US" sz="1400" b="1" dirty="0">
                <a:latin typeface="Microsoft YaHei" panose="020B0503020204020204" pitchFamily="34" charset="-122"/>
                <a:ea typeface="Microsoft YaHei" panose="020B0503020204020204" pitchFamily="34" charset="-122"/>
                <a:sym typeface="+mn-ea"/>
              </a:rPr>
              <a:t>高平  教授  </a:t>
            </a:r>
            <a:endParaRPr lang="en-US" altLang="zh-CN"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kumimoji="1" lang="zh-CN" altLang="en-US" sz="1400" b="1" dirty="0">
                <a:latin typeface="Microsoft YaHei" panose="020B0503020204020204" pitchFamily="34" charset="-122"/>
                <a:ea typeface="Microsoft YaHei" panose="020B0503020204020204" pitchFamily="34" charset="-122"/>
              </a:rPr>
              <a:t>博士生导师</a:t>
            </a:r>
            <a:endParaRPr lang="en-US" altLang="zh-CN"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lang="zh-CN" altLang="en-US" sz="1400" b="1" dirty="0">
                <a:latin typeface="Microsoft YaHei" panose="020B0503020204020204" pitchFamily="34" charset="-122"/>
                <a:ea typeface="Microsoft YaHei" panose="020B0503020204020204" pitchFamily="34" charset="-122"/>
                <a:cs typeface="宋体" panose="02010600030101010101" pitchFamily="2" charset="-122"/>
              </a:rPr>
              <a:t>南方医科大学</a:t>
            </a:r>
            <a:endParaRPr lang="en-US" altLang="zh-CN" sz="1400" b="1" dirty="0">
              <a:latin typeface="Microsoft YaHei" panose="020B0503020204020204" pitchFamily="34" charset="-122"/>
              <a:ea typeface="Microsoft YaHei" panose="020B0503020204020204" pitchFamily="34" charset="-122"/>
              <a:cs typeface="宋体" panose="02010600030101010101" pitchFamily="2" charset="-122"/>
            </a:endParaRPr>
          </a:p>
        </p:txBody>
      </p:sp>
    </p:spTree>
    <p:extLst>
      <p:ext uri="{BB962C8B-B14F-4D97-AF65-F5344CB8AC3E}">
        <p14:creationId xmlns:p14="http://schemas.microsoft.com/office/powerpoint/2010/main" val="4133050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238FE89-EA21-F8A7-4B02-38F5DFF0F0E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6409" y="411510"/>
            <a:ext cx="1584176" cy="2218910"/>
          </a:xfrm>
          <a:prstGeom prst="rect">
            <a:avLst/>
          </a:prstGeom>
          <a:noFill/>
          <a:ln>
            <a:noFill/>
          </a:ln>
        </p:spPr>
      </p:pic>
      <p:sp>
        <p:nvSpPr>
          <p:cNvPr id="4" name="文本框 3">
            <a:extLst>
              <a:ext uri="{FF2B5EF4-FFF2-40B4-BE49-F238E27FC236}">
                <a16:creationId xmlns:a16="http://schemas.microsoft.com/office/drawing/2014/main" id="{9A8FDBCE-FF1B-033C-0517-155CB9FE694C}"/>
              </a:ext>
            </a:extLst>
          </p:cNvPr>
          <p:cNvSpPr txBox="1"/>
          <p:nvPr/>
        </p:nvSpPr>
        <p:spPr>
          <a:xfrm>
            <a:off x="2591746" y="484668"/>
            <a:ext cx="5832649" cy="3742115"/>
          </a:xfrm>
          <a:prstGeom prst="rect">
            <a:avLst/>
          </a:prstGeom>
          <a:noFill/>
          <a:ln>
            <a:solidFill>
              <a:schemeClr val="accent3">
                <a:lumMod val="75000"/>
              </a:schemeClr>
            </a:solidFill>
          </a:ln>
        </p:spPr>
        <p:txBody>
          <a:bodyPr wrap="square" rtlCol="0">
            <a:spAutoFit/>
          </a:bodyPr>
          <a:lstStyle/>
          <a:p>
            <a:pPr>
              <a:lnSpc>
                <a:spcPct val="150000"/>
              </a:lnSpc>
            </a:pPr>
            <a:r>
              <a:rPr lang="zh-CN"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四川大学生物治疗全国重点实验室和华西医院国家老年疾病临床研究中心研究员，博士生导师。中组部海外高层次引进人才，四川省特聘专家。</a:t>
            </a:r>
            <a:r>
              <a:rPr lang="en-US"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2009</a:t>
            </a:r>
            <a:r>
              <a:rPr lang="zh-CN"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年在中国科学院获博士学位；</a:t>
            </a:r>
            <a:r>
              <a:rPr lang="en-US"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2009-2014</a:t>
            </a:r>
            <a:r>
              <a:rPr lang="zh-CN"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年在芝加哥大学从事博士后研究；</a:t>
            </a:r>
            <a:r>
              <a:rPr lang="en-US"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2015</a:t>
            </a:r>
            <a:r>
              <a:rPr lang="zh-CN"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年</a:t>
            </a:r>
            <a:r>
              <a:rPr lang="en-US"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4</a:t>
            </a:r>
            <a:r>
              <a:rPr lang="zh-CN"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月受聘于四川大学。当前研究方向：蛋白质修饰与衰老和老年疾病。承担了国家重点研发计划、自然基金委面上项目等课题</a:t>
            </a:r>
            <a:r>
              <a:rPr lang="en-US"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10</a:t>
            </a:r>
            <a:r>
              <a:rPr lang="zh-CN"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余项。目前以通讯作者在</a:t>
            </a:r>
            <a:r>
              <a:rPr lang="en-US" altLang="zh-CN" sz="1600" b="1" i="1" kern="0" dirty="0">
                <a:effectLst/>
                <a:latin typeface="Arial" panose="020B0604020202020204" pitchFamily="34" charset="0"/>
                <a:ea typeface="Microsoft YaHei" panose="020B0503020204020204" pitchFamily="34" charset="-122"/>
                <a:cs typeface="Arial" panose="020B0604020202020204" pitchFamily="34" charset="0"/>
              </a:rPr>
              <a:t>Nature aging</a:t>
            </a:r>
            <a:r>
              <a:rPr lang="zh-CN" altLang="zh-CN" sz="1600" b="1" i="1" kern="0" dirty="0">
                <a:effectLst/>
                <a:latin typeface="Arial" panose="020B0604020202020204" pitchFamily="34" charset="0"/>
                <a:ea typeface="Microsoft YaHei" panose="020B0503020204020204" pitchFamily="34" charset="-122"/>
                <a:cs typeface="Arial" panose="020B0604020202020204" pitchFamily="34" charset="0"/>
              </a:rPr>
              <a:t>，</a:t>
            </a:r>
            <a:r>
              <a:rPr lang="en-US" altLang="zh-CN" sz="1600" b="1" i="1" kern="0" dirty="0">
                <a:effectLst/>
                <a:latin typeface="Arial" panose="020B0604020202020204" pitchFamily="34" charset="0"/>
                <a:ea typeface="Microsoft YaHei" panose="020B0503020204020204" pitchFamily="34" charset="-122"/>
                <a:cs typeface="Arial" panose="020B0604020202020204" pitchFamily="34" charset="0"/>
              </a:rPr>
              <a:t>Nature chemical biology</a:t>
            </a:r>
            <a:r>
              <a:rPr lang="zh-CN" altLang="zh-CN" sz="1600" b="1" i="1" kern="0" dirty="0">
                <a:effectLst/>
                <a:latin typeface="Arial" panose="020B0604020202020204" pitchFamily="34" charset="0"/>
                <a:ea typeface="Microsoft YaHei" panose="020B0503020204020204" pitchFamily="34" charset="-122"/>
                <a:cs typeface="Arial" panose="020B0604020202020204" pitchFamily="34" charset="0"/>
              </a:rPr>
              <a:t>，</a:t>
            </a:r>
            <a:r>
              <a:rPr lang="en-US" altLang="zh-CN" sz="1600" b="1" i="1" kern="0" dirty="0">
                <a:effectLst/>
                <a:latin typeface="Arial" panose="020B0604020202020204" pitchFamily="34" charset="0"/>
                <a:ea typeface="Microsoft YaHei" panose="020B0503020204020204" pitchFamily="34" charset="-122"/>
                <a:cs typeface="Arial" panose="020B0604020202020204" pitchFamily="34" charset="0"/>
              </a:rPr>
              <a:t>Signal transduction and targeted therapy</a:t>
            </a:r>
            <a:r>
              <a:rPr lang="zh-CN" altLang="zh-CN" sz="1600" b="1" i="1" kern="0" dirty="0">
                <a:effectLst/>
                <a:latin typeface="Arial" panose="020B0604020202020204" pitchFamily="34" charset="0"/>
                <a:ea typeface="Microsoft YaHei" panose="020B0503020204020204" pitchFamily="34" charset="-122"/>
                <a:cs typeface="Arial" panose="020B0604020202020204" pitchFamily="34" charset="0"/>
              </a:rPr>
              <a:t>，</a:t>
            </a:r>
            <a:r>
              <a:rPr lang="en-US" altLang="zh-CN" sz="1600" b="1" i="1" kern="0" dirty="0">
                <a:effectLst/>
                <a:latin typeface="Arial" panose="020B0604020202020204" pitchFamily="34" charset="0"/>
                <a:ea typeface="Microsoft YaHei" panose="020B0503020204020204" pitchFamily="34" charset="-122"/>
                <a:cs typeface="Arial" panose="020B0604020202020204" pitchFamily="34" charset="0"/>
              </a:rPr>
              <a:t>Cell research</a:t>
            </a:r>
            <a:r>
              <a:rPr lang="zh-CN"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等期刊发表研究论文</a:t>
            </a:r>
            <a:r>
              <a:rPr lang="en-US"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30</a:t>
            </a:r>
            <a:r>
              <a:rPr lang="zh-CN" altLang="zh-CN" sz="1600" kern="0" dirty="0">
                <a:effectLst/>
                <a:latin typeface="Microsoft YaHei" panose="020B0503020204020204" pitchFamily="34" charset="-122"/>
                <a:ea typeface="Microsoft YaHei" panose="020B0503020204020204" pitchFamily="34" charset="-122"/>
                <a:cs typeface="Arial" panose="020B0604020202020204" pitchFamily="34" charset="0"/>
              </a:rPr>
              <a:t>余篇。</a:t>
            </a:r>
            <a:endPar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a:lnSpc>
                <a:spcPct val="150000"/>
              </a:lnSpc>
            </a:pPr>
            <a:endParaRPr kumimoji="1" lang="zh-CN" altLang="en-US" sz="1600"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1B1B0E59-BE63-09BD-BE6C-326449C8BCDC}"/>
              </a:ext>
            </a:extLst>
          </p:cNvPr>
          <p:cNvSpPr txBox="1"/>
          <p:nvPr/>
        </p:nvSpPr>
        <p:spPr>
          <a:xfrm>
            <a:off x="395536" y="2355726"/>
            <a:ext cx="2356766" cy="1346907"/>
          </a:xfrm>
          <a:prstGeom prst="rect">
            <a:avLst/>
          </a:prstGeom>
          <a:noFill/>
        </p:spPr>
        <p:txBody>
          <a:bodyPr wrap="square" rtlCol="0">
            <a:spAutoFit/>
          </a:bodyPr>
          <a:lstStyle/>
          <a:p>
            <a:pPr algn="ctr">
              <a:lnSpc>
                <a:spcPct val="150000"/>
              </a:lnSpc>
              <a:buClrTx/>
              <a:buSzTx/>
              <a:buFontTx/>
            </a:pPr>
            <a:endParaRPr lang="zh-CN" altLang="en-US"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lang="zh-CN" altLang="en-US" sz="1400" b="1" dirty="0">
                <a:latin typeface="Microsoft YaHei" panose="020B0503020204020204" pitchFamily="34" charset="-122"/>
                <a:ea typeface="Microsoft YaHei" panose="020B0503020204020204" pitchFamily="34" charset="-122"/>
                <a:sym typeface="+mn-ea"/>
              </a:rPr>
              <a:t>戴伦治  研究员  </a:t>
            </a:r>
            <a:endParaRPr lang="en-US" altLang="zh-CN"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kumimoji="1" lang="zh-CN" altLang="en-US" sz="1400" b="1" dirty="0">
                <a:latin typeface="Microsoft YaHei" panose="020B0503020204020204" pitchFamily="34" charset="-122"/>
                <a:ea typeface="Microsoft YaHei" panose="020B0503020204020204" pitchFamily="34" charset="-122"/>
              </a:rPr>
              <a:t>博士生导师</a:t>
            </a:r>
            <a:endParaRPr lang="en-US" altLang="zh-CN"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lang="zh-CN" altLang="zh-CN" sz="1400" b="1" kern="0" dirty="0">
                <a:effectLst/>
                <a:latin typeface="Microsoft YaHei" panose="020B0503020204020204" pitchFamily="34" charset="-122"/>
                <a:ea typeface="Microsoft YaHei" panose="020B0503020204020204" pitchFamily="34" charset="-122"/>
                <a:cs typeface="Arial" panose="020B0604020202020204" pitchFamily="34" charset="0"/>
              </a:rPr>
              <a:t>四川大学</a:t>
            </a:r>
            <a:endParaRPr lang="en-US" altLang="zh-CN" sz="1400" b="1" dirty="0">
              <a:latin typeface="Microsoft YaHei" panose="020B0503020204020204" pitchFamily="34" charset="-122"/>
              <a:ea typeface="Microsoft YaHei" panose="020B0503020204020204" pitchFamily="34" charset="-122"/>
              <a:cs typeface="宋体" panose="02010600030101010101" pitchFamily="2" charset="-122"/>
            </a:endParaRPr>
          </a:p>
        </p:txBody>
      </p:sp>
    </p:spTree>
    <p:extLst>
      <p:ext uri="{BB962C8B-B14F-4D97-AF65-F5344CB8AC3E}">
        <p14:creationId xmlns:p14="http://schemas.microsoft.com/office/powerpoint/2010/main" val="3370093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3765E5E-D421-BEF7-1982-5B2E13D305F7}"/>
              </a:ext>
            </a:extLst>
          </p:cNvPr>
          <p:cNvSpPr txBox="1"/>
          <p:nvPr/>
        </p:nvSpPr>
        <p:spPr>
          <a:xfrm>
            <a:off x="2915816" y="767217"/>
            <a:ext cx="5400600" cy="3609065"/>
          </a:xfrm>
          <a:prstGeom prst="rect">
            <a:avLst/>
          </a:prstGeom>
          <a:noFill/>
          <a:ln>
            <a:solidFill>
              <a:schemeClr val="tx1">
                <a:lumMod val="65000"/>
                <a:lumOff val="35000"/>
              </a:schemeClr>
            </a:solidFill>
          </a:ln>
        </p:spPr>
        <p:txBody>
          <a:bodyPr wrap="square" rtlCol="0">
            <a:spAutoFit/>
          </a:bodyPr>
          <a:lstStyle/>
          <a:p>
            <a:pPr>
              <a:lnSpc>
                <a:spcPct val="150000"/>
              </a:lnSpc>
            </a:pP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南昌大学第一附属医院副院长，病理中心主任，乳腺中心主任。</a:t>
            </a:r>
            <a:endParaRPr lang="en-US" altLang="zh-CN" sz="1400" b="0" i="0" u="none" strike="noStrike" dirty="0">
              <a:solidFill>
                <a:srgbClr val="333333"/>
              </a:solidFill>
              <a:effectLst/>
              <a:latin typeface="Microsoft YaHei" panose="020B0503020204020204" pitchFamily="34" charset="-122"/>
              <a:ea typeface="Microsoft YaHei" panose="020B0503020204020204" pitchFamily="34" charset="-122"/>
            </a:endParaRPr>
          </a:p>
          <a:p>
            <a:pPr>
              <a:lnSpc>
                <a:spcPct val="150000"/>
              </a:lnSpc>
            </a:pP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获“国家杰出青年科学基金”项目资助，先后入选教育部新世纪优秀人才计划、江苏省高层次创新创业</a:t>
            </a:r>
            <a:r>
              <a:rPr lang="en-US" altLang="zh-CN" sz="1400" b="0" i="0" u="none" strike="noStrike" dirty="0">
                <a:solidFill>
                  <a:srgbClr val="333333"/>
                </a:solidFill>
                <a:effectLst/>
                <a:latin typeface="Microsoft YaHei" panose="020B0503020204020204" pitchFamily="34" charset="-122"/>
                <a:ea typeface="Microsoft YaHei" panose="020B0503020204020204" pitchFamily="34" charset="-122"/>
              </a:rPr>
              <a:t>(</a:t>
            </a: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双创</a:t>
            </a:r>
            <a:r>
              <a:rPr lang="en-US" altLang="zh-CN" sz="1400" b="0" i="0" u="none" strike="noStrike" dirty="0">
                <a:solidFill>
                  <a:srgbClr val="333333"/>
                </a:solidFill>
                <a:effectLst/>
                <a:latin typeface="Microsoft YaHei" panose="020B0503020204020204" pitchFamily="34" charset="-122"/>
                <a:ea typeface="Microsoft YaHei" panose="020B0503020204020204" pitchFamily="34" charset="-122"/>
              </a:rPr>
              <a:t>)</a:t>
            </a: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人才、江苏省创新团队。</a:t>
            </a:r>
            <a:endParaRPr lang="en-US" altLang="zh-CN" sz="1400" b="0" i="0" u="none" strike="noStrike" dirty="0">
              <a:solidFill>
                <a:srgbClr val="333333"/>
              </a:solidFill>
              <a:effectLst/>
              <a:latin typeface="Microsoft YaHei" panose="020B0503020204020204" pitchFamily="34" charset="-122"/>
              <a:ea typeface="Microsoft YaHei" panose="020B0503020204020204" pitchFamily="34" charset="-122"/>
            </a:endParaRPr>
          </a:p>
          <a:p>
            <a:pPr algn="l">
              <a:lnSpc>
                <a:spcPct val="150000"/>
              </a:lnSpc>
            </a:pP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主持科技部国家重点研发计划项目、国家自然科学基金重点项目和重大项目等多项重大科研项目。近</a:t>
            </a:r>
            <a:r>
              <a:rPr lang="en-US" altLang="zh-CN" sz="1400" b="0" i="0" u="none" strike="noStrike" dirty="0">
                <a:solidFill>
                  <a:srgbClr val="333333"/>
                </a:solidFill>
                <a:effectLst/>
                <a:latin typeface="Microsoft YaHei" panose="020B0503020204020204" pitchFamily="34" charset="-122"/>
                <a:ea typeface="Microsoft YaHei" panose="020B0503020204020204" pitchFamily="34" charset="-122"/>
              </a:rPr>
              <a:t>5</a:t>
            </a: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年来，以通讯作者先后在</a:t>
            </a:r>
            <a:r>
              <a:rPr lang="en" altLang="zh-C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Gut</a:t>
            </a:r>
            <a:r>
              <a:rPr lang="zh-CN" altLang="e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a:t>
            </a:r>
            <a:r>
              <a:rPr lang="en" altLang="zh-C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Journal l of Hepatology</a:t>
            </a:r>
            <a:r>
              <a:rPr lang="zh-CN" altLang="e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 </a:t>
            </a:r>
            <a:r>
              <a:rPr lang="en" altLang="zh-C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Hepatology</a:t>
            </a:r>
            <a:r>
              <a:rPr lang="zh-CN" altLang="e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 </a:t>
            </a:r>
            <a:r>
              <a:rPr lang="en" altLang="zh-C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Cancer Research</a:t>
            </a:r>
            <a:r>
              <a:rPr lang="zh-CN" altLang="e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 </a:t>
            </a:r>
            <a:r>
              <a:rPr lang="en" altLang="zh-C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Autophagy</a:t>
            </a:r>
            <a:r>
              <a:rPr lang="zh-CN" altLang="e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 </a:t>
            </a:r>
            <a:r>
              <a:rPr lang="en" altLang="zh-C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Oncogene</a:t>
            </a:r>
            <a:r>
              <a:rPr lang="zh-CN" altLang="e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 </a:t>
            </a:r>
            <a:r>
              <a:rPr lang="en" altLang="zh-CN" sz="1400" b="1" i="1" u="none" strike="noStrike" dirty="0">
                <a:solidFill>
                  <a:srgbClr val="333333"/>
                </a:solidFill>
                <a:effectLst/>
                <a:latin typeface="Microsoft YaHei" panose="020B0503020204020204" pitchFamily="34" charset="-122"/>
                <a:ea typeface="Microsoft YaHei" panose="020B0503020204020204" pitchFamily="34" charset="-122"/>
                <a:cs typeface="Arial" panose="020B0604020202020204" pitchFamily="34" charset="0"/>
              </a:rPr>
              <a:t>Journal of Pathology</a:t>
            </a: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等肿瘤学、病理学领域国际高水平杂志发表</a:t>
            </a:r>
            <a:r>
              <a:rPr lang="en" altLang="zh-CN" sz="1400" b="0" i="0" u="none" strike="noStrike" dirty="0">
                <a:solidFill>
                  <a:srgbClr val="333333"/>
                </a:solidFill>
                <a:effectLst/>
                <a:latin typeface="Microsoft YaHei" panose="020B0503020204020204" pitchFamily="34" charset="-122"/>
                <a:ea typeface="Microsoft YaHei" panose="020B0503020204020204" pitchFamily="34" charset="-122"/>
              </a:rPr>
              <a:t>SCI</a:t>
            </a: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论文</a:t>
            </a:r>
            <a:r>
              <a:rPr lang="en-US" altLang="zh-CN" sz="1400" b="0" i="0" u="none" strike="noStrike" dirty="0">
                <a:solidFill>
                  <a:srgbClr val="333333"/>
                </a:solidFill>
                <a:effectLst/>
                <a:latin typeface="Microsoft YaHei" panose="020B0503020204020204" pitchFamily="34" charset="-122"/>
                <a:ea typeface="Microsoft YaHei" panose="020B0503020204020204" pitchFamily="34" charset="-122"/>
              </a:rPr>
              <a:t>30</a:t>
            </a: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余篇，研究成果共申请国内外发明专利授权</a:t>
            </a:r>
            <a:r>
              <a:rPr lang="en-US" altLang="zh-CN" sz="1400" b="0" i="0" u="none" strike="noStrike" dirty="0">
                <a:solidFill>
                  <a:srgbClr val="333333"/>
                </a:solidFill>
                <a:effectLst/>
                <a:latin typeface="Microsoft YaHei" panose="020B0503020204020204" pitchFamily="34" charset="-122"/>
                <a:ea typeface="Microsoft YaHei" panose="020B0503020204020204" pitchFamily="34" charset="-122"/>
              </a:rPr>
              <a:t>4</a:t>
            </a: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项，获</a:t>
            </a:r>
            <a:r>
              <a:rPr lang="en-US" altLang="zh-CN" sz="1400" b="0" i="0" u="none" strike="noStrike" dirty="0">
                <a:solidFill>
                  <a:srgbClr val="333333"/>
                </a:solidFill>
                <a:effectLst/>
                <a:latin typeface="Microsoft YaHei" panose="020B0503020204020204" pitchFamily="34" charset="-122"/>
                <a:ea typeface="Microsoft YaHei" panose="020B0503020204020204" pitchFamily="34" charset="-122"/>
              </a:rPr>
              <a:t>2014</a:t>
            </a: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年广东省科学技术奖</a:t>
            </a:r>
            <a:r>
              <a:rPr lang="en-US" altLang="zh-CN" sz="1400" b="0" i="0" u="none" strike="noStrike" dirty="0">
                <a:solidFill>
                  <a:srgbClr val="333333"/>
                </a:solidFill>
                <a:effectLst/>
                <a:latin typeface="Microsoft YaHei" panose="020B0503020204020204" pitchFamily="34" charset="-122"/>
                <a:ea typeface="Microsoft YaHei" panose="020B0503020204020204" pitchFamily="34" charset="-122"/>
              </a:rPr>
              <a:t>(</a:t>
            </a: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自然科学类</a:t>
            </a:r>
            <a:r>
              <a:rPr lang="en-US" altLang="zh-CN" sz="1400" b="0" i="0" u="none" strike="noStrike" dirty="0">
                <a:solidFill>
                  <a:srgbClr val="333333"/>
                </a:solidFill>
                <a:effectLst/>
                <a:latin typeface="Microsoft YaHei" panose="020B0503020204020204" pitchFamily="34" charset="-122"/>
                <a:ea typeface="Microsoft YaHei" panose="020B0503020204020204" pitchFamily="34" charset="-122"/>
              </a:rPr>
              <a:t>)</a:t>
            </a:r>
            <a:r>
              <a:rPr lang="zh-CN" altLang="en-US" sz="1400" b="0" i="0" u="none" strike="noStrike" dirty="0">
                <a:solidFill>
                  <a:srgbClr val="333333"/>
                </a:solidFill>
                <a:effectLst/>
                <a:latin typeface="Microsoft YaHei" panose="020B0503020204020204" pitchFamily="34" charset="-122"/>
                <a:ea typeface="Microsoft YaHei" panose="020B0503020204020204" pitchFamily="34" charset="-122"/>
              </a:rPr>
              <a:t>一等奖。</a:t>
            </a:r>
          </a:p>
          <a:p>
            <a:pPr>
              <a:lnSpc>
                <a:spcPct val="150000"/>
              </a:lnSpc>
            </a:pPr>
            <a:endParaRPr kumimoji="1" lang="zh-CN" altLang="en-US" sz="1400" dirty="0">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4F6D077B-0023-8A1B-AA16-357F834BC3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767217"/>
            <a:ext cx="1447800" cy="2019300"/>
          </a:xfrm>
          <a:prstGeom prst="rect">
            <a:avLst/>
          </a:prstGeom>
        </p:spPr>
      </p:pic>
      <p:sp>
        <p:nvSpPr>
          <p:cNvPr id="6" name="文本框 5">
            <a:extLst>
              <a:ext uri="{FF2B5EF4-FFF2-40B4-BE49-F238E27FC236}">
                <a16:creationId xmlns:a16="http://schemas.microsoft.com/office/drawing/2014/main" id="{C6F846EA-93B9-7471-65D1-FC75BCBB51DD}"/>
              </a:ext>
            </a:extLst>
          </p:cNvPr>
          <p:cNvSpPr txBox="1"/>
          <p:nvPr/>
        </p:nvSpPr>
        <p:spPr>
          <a:xfrm>
            <a:off x="559050" y="2499742"/>
            <a:ext cx="2356766" cy="1346907"/>
          </a:xfrm>
          <a:prstGeom prst="rect">
            <a:avLst/>
          </a:prstGeom>
          <a:noFill/>
        </p:spPr>
        <p:txBody>
          <a:bodyPr wrap="square" rtlCol="0">
            <a:spAutoFit/>
          </a:bodyPr>
          <a:lstStyle/>
          <a:p>
            <a:pPr algn="ctr">
              <a:lnSpc>
                <a:spcPct val="150000"/>
              </a:lnSpc>
              <a:buClrTx/>
              <a:buSzTx/>
              <a:buFontTx/>
            </a:pPr>
            <a:endParaRPr lang="zh-CN" altLang="en-US"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lang="zh-CN" altLang="en-US" sz="1400" b="1" dirty="0">
                <a:latin typeface="Microsoft YaHei" panose="020B0503020204020204" pitchFamily="34" charset="-122"/>
                <a:ea typeface="Microsoft YaHei" panose="020B0503020204020204" pitchFamily="34" charset="-122"/>
                <a:sym typeface="+mn-ea"/>
              </a:rPr>
              <a:t>李建明  教授  </a:t>
            </a:r>
            <a:endParaRPr lang="en-US" altLang="zh-CN"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kumimoji="1" lang="zh-CN" altLang="en-US" sz="1400" b="1" dirty="0">
                <a:latin typeface="Microsoft YaHei" panose="020B0503020204020204" pitchFamily="34" charset="-122"/>
                <a:ea typeface="Microsoft YaHei" panose="020B0503020204020204" pitchFamily="34" charset="-122"/>
              </a:rPr>
              <a:t>博士生导师</a:t>
            </a:r>
            <a:endParaRPr lang="en-US" altLang="zh-CN" sz="1400" b="1" dirty="0">
              <a:latin typeface="Microsoft YaHei" panose="020B0503020204020204" pitchFamily="34" charset="-122"/>
              <a:ea typeface="Microsoft YaHei" panose="020B0503020204020204" pitchFamily="34" charset="-122"/>
              <a:sym typeface="+mn-ea"/>
            </a:endParaRPr>
          </a:p>
          <a:p>
            <a:pPr algn="ctr">
              <a:lnSpc>
                <a:spcPct val="150000"/>
              </a:lnSpc>
              <a:buClrTx/>
              <a:buSzTx/>
              <a:buFontTx/>
            </a:pPr>
            <a:r>
              <a:rPr lang="zh-CN" altLang="en-US" sz="1400" b="1" kern="0" dirty="0">
                <a:latin typeface="Microsoft YaHei" panose="020B0503020204020204" pitchFamily="34" charset="-122"/>
                <a:ea typeface="Microsoft YaHei" panose="020B0503020204020204" pitchFamily="34" charset="-122"/>
                <a:cs typeface="Arial" panose="020B0604020202020204" pitchFamily="34" charset="0"/>
              </a:rPr>
              <a:t>南昌</a:t>
            </a:r>
            <a:r>
              <a:rPr lang="zh-CN" altLang="zh-CN" sz="1400" b="1" kern="0" dirty="0">
                <a:effectLst/>
                <a:latin typeface="Microsoft YaHei" panose="020B0503020204020204" pitchFamily="34" charset="-122"/>
                <a:ea typeface="Microsoft YaHei" panose="020B0503020204020204" pitchFamily="34" charset="-122"/>
                <a:cs typeface="Arial" panose="020B0604020202020204" pitchFamily="34" charset="0"/>
              </a:rPr>
              <a:t>大学</a:t>
            </a:r>
            <a:endParaRPr lang="en-US" altLang="zh-CN" sz="1400" b="1" dirty="0">
              <a:latin typeface="Microsoft YaHei" panose="020B0503020204020204" pitchFamily="34" charset="-122"/>
              <a:ea typeface="Microsoft YaHei" panose="020B0503020204020204" pitchFamily="34" charset="-122"/>
              <a:cs typeface="宋体" panose="02010600030101010101" pitchFamily="2" charset="-122"/>
            </a:endParaRPr>
          </a:p>
        </p:txBody>
      </p:sp>
    </p:spTree>
    <p:extLst>
      <p:ext uri="{BB962C8B-B14F-4D97-AF65-F5344CB8AC3E}">
        <p14:creationId xmlns:p14="http://schemas.microsoft.com/office/powerpoint/2010/main" val="29521522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898d6da8-8dd2-409b-b3d3-1bf2ab4e414f"/>
  <p:tag name="COMMONDATA" val="eyJoZGlkIjoiNDJhYjNkNjQ4NTM0YmUyMzEzMjhlODc2NWU0NDQyMm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536,&quot;width&quot;:4856}"/>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1532</TotalTime>
  <Words>1761</Words>
  <Application>Microsoft Macintosh PowerPoint</Application>
  <PresentationFormat>全屏显示(16:9)</PresentationFormat>
  <Paragraphs>79</Paragraphs>
  <Slides>10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10</vt:i4>
      </vt:variant>
    </vt:vector>
  </HeadingPairs>
  <TitlesOfParts>
    <vt:vector size="16" baseType="lpstr">
      <vt:lpstr>Microsoft YaHei</vt:lpstr>
      <vt:lpstr>Microsoft YaHei</vt:lpstr>
      <vt:lpstr>Arial</vt:lpstr>
      <vt:lpstr>Calibri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huayinmky024</dc:creator>
  <cp:lastModifiedBy>Microsoft Office User</cp:lastModifiedBy>
  <cp:revision>133</cp:revision>
  <dcterms:created xsi:type="dcterms:W3CDTF">2016-07-14T03:45:00Z</dcterms:created>
  <dcterms:modified xsi:type="dcterms:W3CDTF">2025-01-07T16:10:31Z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C4140204F10F448B9D341C55B96F2C6F</vt:lpwstr>
  </property>
</Properties>
</file>